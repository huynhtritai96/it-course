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74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70" r:id="rId12"/>
    <p:sldId id="267" r:id="rId13"/>
    <p:sldId id="271" r:id="rId14"/>
    <p:sldId id="268" r:id="rId15"/>
    <p:sldId id="272" r:id="rId16"/>
    <p:sldId id="273" r:id="rId17"/>
    <p:sldId id="269" r:id="rId18"/>
    <p:sldId id="258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6423" autoAdjust="0"/>
  </p:normalViewPr>
  <p:slideViewPr>
    <p:cSldViewPr snapToGrid="0" snapToObjects="1" showGuides="1">
      <p:cViewPr varScale="1">
        <p:scale>
          <a:sx n="116" d="100"/>
          <a:sy n="116" d="100"/>
        </p:scale>
        <p:origin x="146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6B2F8-E390-BD4F-9ACD-789C35D23CE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0A0C1-BF67-B440-B7AD-B68AAB032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041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F8F81-D7B9-424E-B993-6D09B3871A4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067B3-3AE6-DD4A-9E3D-C999AB397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04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31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 smtClean="0"/>
              <a:t>Mỗi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trong source code </a:t>
            </a:r>
            <a:r>
              <a:rPr lang="en-US" baseline="0" dirty="0" err="1" smtClean="0"/>
              <a:t>xuất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những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đoạn</a:t>
            </a:r>
            <a:r>
              <a:rPr lang="en-US" baseline="0" dirty="0" smtClean="0"/>
              <a:t> code cần thời gian </a:t>
            </a:r>
            <a:r>
              <a:rPr lang="en-US" baseline="0" dirty="0" err="1" smtClean="0"/>
              <a:t>xử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lâu</a:t>
            </a:r>
            <a:r>
              <a:rPr lang="en-US" baseline="0" dirty="0" smtClean="0"/>
              <a:t> và có thể </a:t>
            </a:r>
            <a:r>
              <a:rPr lang="en-US" baseline="0" dirty="0" err="1" smtClean="0"/>
              <a:t>chạy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độc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lập</a:t>
            </a:r>
            <a:r>
              <a:rPr lang="en-US" baseline="0" dirty="0" smtClean="0"/>
              <a:t> với </a:t>
            </a:r>
            <a:r>
              <a:rPr lang="en-US" baseline="0" dirty="0" err="1" smtClean="0"/>
              <a:t>đoạn</a:t>
            </a:r>
            <a:r>
              <a:rPr lang="en-US" baseline="0" dirty="0" smtClean="0"/>
              <a:t> code </a:t>
            </a:r>
            <a:r>
              <a:rPr lang="en-US" baseline="0" dirty="0" err="1" smtClean="0"/>
              <a:t>bên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dưới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nghĩ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đến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tạo</a:t>
            </a:r>
            <a:r>
              <a:rPr lang="en-US" baseline="0" dirty="0" smtClean="0"/>
              <a:t> thread mới để </a:t>
            </a:r>
            <a:r>
              <a:rPr lang="en-US" baseline="0" dirty="0" err="1" smtClean="0"/>
              <a:t>xử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lý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29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Create</a:t>
            </a:r>
            <a:r>
              <a:rPr lang="en-US" baseline="0" dirty="0" smtClean="0"/>
              <a:t> 2 threads 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For loop from 1 to 100 </a:t>
            </a:r>
            <a:r>
              <a:rPr lang="en-US" baseline="0" dirty="0" err="1" smtClean="0"/>
              <a:t>bilion</a:t>
            </a: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If (i%2)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Trong</a:t>
            </a:r>
            <a:r>
              <a:rPr lang="en-US" baseline="0" dirty="0" smtClean="0"/>
              <a:t> Linux, process sẽ </a:t>
            </a:r>
            <a:r>
              <a:rPr lang="en-US" baseline="0" dirty="0" err="1" smtClean="0"/>
              <a:t>rơi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thái</a:t>
            </a:r>
            <a:r>
              <a:rPr lang="en-US" baseline="0" dirty="0" smtClean="0"/>
              <a:t> sleep </a:t>
            </a:r>
            <a:r>
              <a:rPr lang="en-US" baseline="0" dirty="0" err="1" smtClean="0"/>
              <a:t>mỗi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tiến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hành</a:t>
            </a:r>
            <a:r>
              <a:rPr lang="en-US" baseline="0" dirty="0" smtClean="0"/>
              <a:t> lock </a:t>
            </a:r>
            <a:r>
              <a:rPr lang="en-US" baseline="0" dirty="0" err="1" smtClean="0"/>
              <a:t>mutex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72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 smtClean="0"/>
              <a:t>Ví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</a:t>
            </a:r>
            <a:r>
              <a:rPr lang="en-US" baseline="0" dirty="0" smtClean="0"/>
              <a:t> minh </a:t>
            </a:r>
            <a:r>
              <a:rPr lang="en-US" baseline="0" dirty="0" err="1" smtClean="0"/>
              <a:t>họa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13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96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200" y="1743789"/>
            <a:ext cx="5334000" cy="678021"/>
          </a:xfrm>
        </p:spPr>
        <p:txBody>
          <a:bodyPr>
            <a:noAutofit/>
          </a:bodyPr>
          <a:lstStyle>
            <a:lvl1pPr algn="ctr">
              <a:defRPr sz="3600">
                <a:solidFill>
                  <a:srgbClr val="FF66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200" y="2571750"/>
            <a:ext cx="5334000" cy="434975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99CC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BE28-58BC-4486-9A8E-6C1F0E326EA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68557" y="4767263"/>
            <a:ext cx="4489063" cy="273844"/>
          </a:xfrm>
        </p:spPr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60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0857"/>
            <a:ext cx="8229600" cy="372376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B6E5-7AA4-4C0D-BF97-BDC69083DBC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3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B4B-2F94-4F11-9AD4-28D0EBD2523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2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5478-161F-4B28-93E5-DE9BF6B2D5E2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9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222"/>
            <a:ext cx="6611510" cy="5406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38055-F1C9-4AC4-B9E3-476EF82AD4CC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57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9E8B6-A1D4-4191-8D54-A8260B6A1972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C1980-AF69-46D2-A9FE-14E6E6C939BE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75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5"/>
            <a:ext cx="5111750" cy="3518298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3C03-0194-466F-B287-AA772F5566B9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0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78023"/>
            <a:ext cx="5486400" cy="29609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652282"/>
            <a:ext cx="5486400" cy="845073"/>
          </a:xfrm>
        </p:spPr>
        <p:txBody>
          <a:bodyPr>
            <a:normAutofit/>
          </a:bodyPr>
          <a:lstStyle>
            <a:lvl1pPr marL="0" indent="0" algn="ctr">
              <a:buNone/>
              <a:defRPr sz="3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F56F-D32E-44F3-A5D6-9F4533FAF9B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C3-1882-4E84-9C82-23BA74B52008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1917-4DD8-41D3-93A0-974B9DFBBCBF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2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11887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9C729-EC9D-4075-8A00-DCB3B3221814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9245" y="4767263"/>
            <a:ext cx="3948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1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Lập trình multithread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 </a:t>
            </a:r>
            <a:r>
              <a:rPr lang="en-US" dirty="0" err="1" smtClean="0"/>
              <a:t>Lưu</a:t>
            </a:r>
            <a:r>
              <a:rPr lang="en-US" dirty="0" smtClean="0"/>
              <a:t> An </a:t>
            </a:r>
            <a:r>
              <a:rPr lang="en-US" dirty="0" err="1" smtClean="0"/>
              <a:t>Phú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1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Ưu điểm nhược </a:t>
            </a:r>
            <a:r>
              <a:rPr lang="vi-VN" dirty="0" smtClean="0"/>
              <a:t>điểm</a:t>
            </a:r>
            <a:endParaRPr lang="en-US" dirty="0" smtClean="0"/>
          </a:p>
          <a:p>
            <a:r>
              <a:rPr lang="en-US" dirty="0" err="1"/>
              <a:t>Tạo</a:t>
            </a:r>
            <a:r>
              <a:rPr lang="en-US" dirty="0"/>
              <a:t> và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smtClean="0"/>
              <a:t>thread</a:t>
            </a:r>
          </a:p>
          <a:p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các thread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3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Thread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luồng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cpu</a:t>
            </a:r>
            <a:r>
              <a:rPr lang="en-US" dirty="0" smtClean="0"/>
              <a:t> </a:t>
            </a:r>
            <a:r>
              <a:rPr lang="en-US" dirty="0" err="1" smtClean="0"/>
              <a:t>coi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lịch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scanf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scanf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write().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5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Ưu điểm nhược điểm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Tối ưu được hiệu năng xử lý của tất cả các </a:t>
            </a:r>
            <a:r>
              <a:rPr lang="vi-VN" dirty="0" smtClean="0"/>
              <a:t>core</a:t>
            </a:r>
            <a:endParaRPr lang="en-US" dirty="0" smtClean="0"/>
          </a:p>
          <a:p>
            <a:r>
              <a:rPr lang="vi-VN" dirty="0"/>
              <a:t>Các thread được lập lịch một cách độc </a:t>
            </a:r>
            <a:r>
              <a:rPr lang="vi-VN" dirty="0" smtClean="0"/>
              <a:t>lập</a:t>
            </a:r>
            <a:endParaRPr lang="en-US" dirty="0" smtClean="0"/>
          </a:p>
          <a:p>
            <a:r>
              <a:rPr lang="en-US" dirty="0" smtClean="0"/>
              <a:t>Nếu 1 thread </a:t>
            </a:r>
            <a:r>
              <a:rPr lang="en-US" dirty="0" err="1" smtClean="0"/>
              <a:t>gặp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 smtClean="0"/>
              <a:t>,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các thread </a:t>
            </a:r>
            <a:r>
              <a:rPr lang="en-US" dirty="0" err="1" smtClean="0"/>
              <a:t>còn</a:t>
            </a:r>
            <a:r>
              <a:rPr lang="en-US" dirty="0" smtClean="0"/>
              <a:t> lại sẽ </a:t>
            </a:r>
            <a:r>
              <a:rPr lang="en-US" dirty="0" err="1" smtClean="0"/>
              <a:t>bị</a:t>
            </a:r>
            <a:r>
              <a:rPr lang="en-US" dirty="0" smtClean="0"/>
              <a:t> terminate.</a:t>
            </a:r>
          </a:p>
          <a:p>
            <a:r>
              <a:rPr lang="vi-VN" dirty="0"/>
              <a:t>Tránh được trạng thái block chương </a:t>
            </a:r>
            <a:r>
              <a:rPr lang="vi-VN" dirty="0" smtClean="0"/>
              <a:t>trình</a:t>
            </a:r>
            <a:endParaRPr lang="en-US" dirty="0" smtClean="0"/>
          </a:p>
          <a:p>
            <a:r>
              <a:rPr lang="vi-VN" dirty="0"/>
              <a:t>Cần lưu ý đồng bộ dữ liệu giữa các thread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6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mới </a:t>
            </a:r>
            <a:r>
              <a:rPr lang="en-US" dirty="0" err="1"/>
              <a:t>một</a:t>
            </a:r>
            <a:r>
              <a:rPr lang="en-US" dirty="0"/>
              <a:t>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#include &lt;</a:t>
            </a:r>
            <a:r>
              <a:rPr lang="en-US" dirty="0" err="1"/>
              <a:t>pthread.h</a:t>
            </a:r>
            <a:r>
              <a:rPr lang="en-US" dirty="0" smtClean="0"/>
              <a:t>&gt;</a:t>
            </a:r>
          </a:p>
          <a:p>
            <a:r>
              <a:rPr lang="en-US" dirty="0"/>
              <a:t>int </a:t>
            </a:r>
            <a:r>
              <a:rPr lang="en-US" b="1" dirty="0" err="1"/>
              <a:t>pthread_create</a:t>
            </a:r>
            <a:r>
              <a:rPr lang="en-US" dirty="0"/>
              <a:t>(</a:t>
            </a:r>
            <a:r>
              <a:rPr lang="en-US" dirty="0" err="1"/>
              <a:t>pthread_t</a:t>
            </a:r>
            <a:r>
              <a:rPr lang="en-US" dirty="0"/>
              <a:t> *restrict </a:t>
            </a:r>
            <a:r>
              <a:rPr lang="en-US" dirty="0" err="1"/>
              <a:t>tidp</a:t>
            </a:r>
            <a:r>
              <a:rPr lang="en-US" dirty="0"/>
              <a:t>, const </a:t>
            </a:r>
            <a:r>
              <a:rPr lang="en-US" dirty="0" err="1"/>
              <a:t>pthread_attr_t</a:t>
            </a:r>
            <a:r>
              <a:rPr lang="en-US" dirty="0"/>
              <a:t> *restrict </a:t>
            </a:r>
            <a:r>
              <a:rPr lang="en-US" dirty="0" err="1"/>
              <a:t>attr</a:t>
            </a:r>
            <a:r>
              <a:rPr lang="en-US" dirty="0"/>
              <a:t>, void *(*</a:t>
            </a:r>
            <a:r>
              <a:rPr lang="en-US" dirty="0" err="1"/>
              <a:t>start_rtn</a:t>
            </a:r>
            <a:r>
              <a:rPr lang="en-US" dirty="0"/>
              <a:t>)(void *), void *restrict </a:t>
            </a:r>
            <a:r>
              <a:rPr lang="en-US" dirty="0" err="1"/>
              <a:t>arg</a:t>
            </a:r>
            <a:r>
              <a:rPr lang="en-US" dirty="0" smtClean="0"/>
              <a:t>);</a:t>
            </a:r>
          </a:p>
          <a:p>
            <a:r>
              <a:rPr lang="en-US" dirty="0"/>
              <a:t>Returns: 0 if OK, error number on failure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1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Thread call </a:t>
            </a:r>
            <a:r>
              <a:rPr lang="en-US" dirty="0" err="1"/>
              <a:t>pthread_exit</a:t>
            </a:r>
            <a:r>
              <a:rPr lang="en-US" dirty="0"/>
              <a:t>, </a:t>
            </a:r>
            <a:r>
              <a:rPr lang="en-US" b="1" dirty="0"/>
              <a:t>return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 err="1"/>
              <a:t>bị</a:t>
            </a:r>
            <a:r>
              <a:rPr lang="en-US" b="1" dirty="0"/>
              <a:t> cancel </a:t>
            </a:r>
            <a:r>
              <a:rPr lang="en-US" b="1" dirty="0" err="1"/>
              <a:t>bởi</a:t>
            </a:r>
            <a:r>
              <a:rPr lang="en-US" b="1" dirty="0"/>
              <a:t> 1 thread </a:t>
            </a:r>
            <a:r>
              <a:rPr lang="en-US" b="1" dirty="0" err="1"/>
              <a:t>khác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void </a:t>
            </a:r>
            <a:r>
              <a:rPr lang="en-US" b="1" dirty="0" err="1"/>
              <a:t>pthread_exit</a:t>
            </a:r>
            <a:r>
              <a:rPr lang="en-US" dirty="0"/>
              <a:t>(void *</a:t>
            </a:r>
            <a:r>
              <a:rPr lang="en-US" dirty="0" err="1"/>
              <a:t>rval_ptr</a:t>
            </a:r>
            <a:r>
              <a:rPr lang="en-US" dirty="0" smtClean="0"/>
              <a:t>)</a:t>
            </a:r>
          </a:p>
          <a:p>
            <a:r>
              <a:rPr lang="en-US" b="1" dirty="0"/>
              <a:t>1 thread </a:t>
            </a:r>
            <a:r>
              <a:rPr lang="en-US" b="1" dirty="0" err="1"/>
              <a:t>khác</a:t>
            </a:r>
            <a:r>
              <a:rPr lang="en-US" b="1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b="1" dirty="0"/>
              <a:t>clear resource</a:t>
            </a:r>
            <a:r>
              <a:rPr lang="en-US" dirty="0"/>
              <a:t> của </a:t>
            </a:r>
            <a:r>
              <a:rPr lang="en-US" b="1" dirty="0"/>
              <a:t>thread </a:t>
            </a:r>
            <a:r>
              <a:rPr lang="en-US" b="1" dirty="0" err="1"/>
              <a:t>đã</a:t>
            </a:r>
            <a:r>
              <a:rPr lang="en-US" b="1" dirty="0"/>
              <a:t> </a:t>
            </a:r>
            <a:r>
              <a:rPr lang="en-US" b="1" dirty="0" smtClean="0"/>
              <a:t>exit</a:t>
            </a:r>
          </a:p>
          <a:p>
            <a:pPr lvl="1"/>
            <a:r>
              <a:rPr lang="en-US" dirty="0"/>
              <a:t>int </a:t>
            </a:r>
            <a:r>
              <a:rPr lang="en-US" b="1" dirty="0" err="1"/>
              <a:t>pthread_cancel</a:t>
            </a:r>
            <a:r>
              <a:rPr lang="en-US" dirty="0"/>
              <a:t>(</a:t>
            </a:r>
            <a:r>
              <a:rPr lang="en-US" dirty="0" err="1"/>
              <a:t>pthread_t</a:t>
            </a:r>
            <a:r>
              <a:rPr lang="en-US" dirty="0"/>
              <a:t> </a:t>
            </a:r>
            <a:r>
              <a:rPr lang="en-US" i="1" dirty="0" err="1"/>
              <a:t>tid</a:t>
            </a:r>
            <a:r>
              <a:rPr lang="en-US" dirty="0" smtClean="0"/>
              <a:t>);</a:t>
            </a:r>
          </a:p>
          <a:p>
            <a:r>
              <a:rPr lang="en-US" dirty="0"/>
              <a:t>int </a:t>
            </a:r>
            <a:r>
              <a:rPr lang="en-US" b="1" dirty="0" err="1"/>
              <a:t>pthread_join</a:t>
            </a:r>
            <a:r>
              <a:rPr lang="en-US" dirty="0"/>
              <a:t>(</a:t>
            </a:r>
            <a:r>
              <a:rPr lang="en-US" dirty="0" err="1"/>
              <a:t>pthread_t</a:t>
            </a:r>
            <a:r>
              <a:rPr lang="en-US" dirty="0"/>
              <a:t> thread, void **</a:t>
            </a:r>
            <a:r>
              <a:rPr lang="en-US" dirty="0" err="1"/>
              <a:t>rval_ptr</a:t>
            </a:r>
            <a:r>
              <a:rPr lang="en-US" dirty="0" smtClean="0"/>
              <a:t>)</a:t>
            </a:r>
          </a:p>
          <a:p>
            <a:pPr lvl="1"/>
            <a:r>
              <a:rPr lang="en-US" b="1" dirty="0"/>
              <a:t>Block</a:t>
            </a:r>
            <a:r>
              <a:rPr lang="en-US" dirty="0"/>
              <a:t> cho </a:t>
            </a:r>
            <a:r>
              <a:rPr lang="en-US" b="1" dirty="0" err="1"/>
              <a:t>đến</a:t>
            </a:r>
            <a:r>
              <a:rPr lang="en-US" b="1" dirty="0"/>
              <a:t> </a:t>
            </a:r>
            <a:r>
              <a:rPr lang="en-US" b="1" dirty="0" err="1"/>
              <a:t>khi</a:t>
            </a:r>
            <a:r>
              <a:rPr lang="en-US" b="1" dirty="0"/>
              <a:t> thread cần đợi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 smtClean="0"/>
              <a:t>thúc</a:t>
            </a:r>
            <a:endParaRPr lang="en-US" b="1" dirty="0" smtClean="0"/>
          </a:p>
          <a:p>
            <a:pPr lvl="1"/>
            <a:r>
              <a:rPr lang="vi-VN" b="1" dirty="0"/>
              <a:t>Return</a:t>
            </a:r>
            <a:r>
              <a:rPr lang="vi-VN" dirty="0"/>
              <a:t> </a:t>
            </a:r>
            <a:r>
              <a:rPr lang="vi-VN" b="1" dirty="0"/>
              <a:t>EINVAL</a:t>
            </a:r>
            <a:r>
              <a:rPr lang="vi-VN" dirty="0"/>
              <a:t> nếu thread kia đã kết thúc từ trước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6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Đếm số lượng số lẻ từ 1 đến 100 tỷ. Code theo 2 trường hợp, trường hợp 1 sử dụng multithread, trường hợp 2 không sử dụng multithread. So sánh thời gian của 2 trường hợp</a:t>
            </a:r>
            <a:r>
              <a:rPr lang="vi-VN" dirty="0" smtClean="0"/>
              <a:t>.</a:t>
            </a:r>
            <a:endParaRPr lang="en-US" dirty="0" smtClean="0"/>
          </a:p>
          <a:p>
            <a:r>
              <a:rPr lang="vi-VN" dirty="0"/>
              <a:t>Viết 1 chương trình C tạo 10 file, mỗi file chứa 5 triệu số ngẫu nhiên có 1 chữ số. Sử dụng multithread và không multithread rồi so sánh thời gian.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5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2800" dirty="0">
                <a:solidFill>
                  <a:schemeClr val="tx1"/>
                </a:solidFill>
              </a:rPr>
              <a:t>Các phương thức đồng </a:t>
            </a:r>
            <a:r>
              <a:rPr lang="en-US" sz="2800" dirty="0" err="1">
                <a:solidFill>
                  <a:schemeClr val="tx1"/>
                </a:solidFill>
              </a:rPr>
              <a:t>giữa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threads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5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err="1"/>
              <a:t>Mất</a:t>
            </a:r>
            <a:r>
              <a:rPr lang="en-US" sz="3000" dirty="0"/>
              <a:t> </a:t>
            </a:r>
            <a:r>
              <a:rPr lang="en-US" sz="3000" dirty="0" err="1"/>
              <a:t>đồng</a:t>
            </a:r>
            <a:r>
              <a:rPr lang="en-US" sz="3000" dirty="0"/>
              <a:t> </a:t>
            </a:r>
            <a:r>
              <a:rPr lang="en-US" sz="3000" dirty="0" err="1"/>
              <a:t>bộ</a:t>
            </a:r>
            <a:r>
              <a:rPr lang="en-US" sz="3000" dirty="0"/>
              <a:t> dữ liệu </a:t>
            </a:r>
            <a:r>
              <a:rPr lang="en-US" sz="3000" dirty="0" err="1"/>
              <a:t>giữa</a:t>
            </a:r>
            <a:r>
              <a:rPr lang="en-US" sz="3000" dirty="0"/>
              <a:t> các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minh </a:t>
            </a:r>
            <a:r>
              <a:rPr lang="en-US" dirty="0" err="1"/>
              <a:t>họa</a:t>
            </a:r>
            <a:r>
              <a:rPr lang="en-US" dirty="0"/>
              <a:t> về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2 thread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1 </a:t>
            </a:r>
            <a:r>
              <a:rPr lang="en-US" dirty="0" err="1" smtClean="0"/>
              <a:t>biến</a:t>
            </a:r>
            <a:endParaRPr lang="en-US" dirty="0" smtClean="0"/>
          </a:p>
          <a:p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và file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1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Chỉ</a:t>
            </a:r>
            <a:r>
              <a:rPr lang="en-US" dirty="0"/>
              <a:t> có </a:t>
            </a:r>
            <a:r>
              <a:rPr lang="en-US" dirty="0" err="1"/>
              <a:t>một</a:t>
            </a:r>
            <a:r>
              <a:rPr lang="en-US" dirty="0"/>
              <a:t> khóa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 smtClean="0"/>
              <a:t>.</a:t>
            </a:r>
          </a:p>
          <a:p>
            <a:r>
              <a:rPr lang="vi-VN" dirty="0"/>
              <a:t>Trong một thời điểm chỉ 1 thread có được </a:t>
            </a:r>
            <a:r>
              <a:rPr lang="vi-VN" dirty="0" smtClean="0"/>
              <a:t>khóa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889" y="2000544"/>
            <a:ext cx="3004916" cy="269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4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Function:</a:t>
            </a:r>
          </a:p>
          <a:p>
            <a:pPr lvl="1"/>
            <a:r>
              <a:rPr lang="en-US" dirty="0"/>
              <a:t>int </a:t>
            </a:r>
            <a:r>
              <a:rPr lang="en-US" b="1" dirty="0" err="1"/>
              <a:t>pthread_mutex_init</a:t>
            </a:r>
            <a:r>
              <a:rPr lang="en-US" dirty="0"/>
              <a:t>(</a:t>
            </a:r>
            <a:r>
              <a:rPr lang="en-US" dirty="0" err="1"/>
              <a:t>pthread_mutex_t</a:t>
            </a:r>
            <a:r>
              <a:rPr lang="en-US" dirty="0"/>
              <a:t> *restrict </a:t>
            </a:r>
            <a:r>
              <a:rPr lang="en-US" dirty="0" err="1"/>
              <a:t>mutex</a:t>
            </a:r>
            <a:r>
              <a:rPr lang="en-US" dirty="0"/>
              <a:t>, const </a:t>
            </a:r>
            <a:r>
              <a:rPr lang="en-US" dirty="0" err="1"/>
              <a:t>pthread_mutexattr_t</a:t>
            </a:r>
            <a:r>
              <a:rPr lang="en-US" dirty="0"/>
              <a:t> *restrict </a:t>
            </a:r>
            <a:r>
              <a:rPr lang="en-US" dirty="0" err="1"/>
              <a:t>attr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pthread_mutex_</a:t>
            </a:r>
            <a:r>
              <a:rPr lang="en-US" b="1" dirty="0" err="1"/>
              <a:t>destroy</a:t>
            </a:r>
            <a:r>
              <a:rPr lang="en-US" dirty="0"/>
              <a:t>(</a:t>
            </a:r>
            <a:r>
              <a:rPr lang="en-US" dirty="0" err="1"/>
              <a:t>pthread_mutex_t</a:t>
            </a:r>
            <a:r>
              <a:rPr lang="en-US" dirty="0"/>
              <a:t> *</a:t>
            </a:r>
            <a:r>
              <a:rPr lang="en-US" dirty="0" err="1"/>
              <a:t>mutex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pthread_mutex_</a:t>
            </a:r>
            <a:r>
              <a:rPr lang="en-US" b="1" dirty="0" err="1"/>
              <a:t>lock</a:t>
            </a:r>
            <a:r>
              <a:rPr lang="en-US" dirty="0"/>
              <a:t>(</a:t>
            </a:r>
            <a:r>
              <a:rPr lang="en-US" dirty="0" err="1"/>
              <a:t>pthread_mutex_t</a:t>
            </a:r>
            <a:r>
              <a:rPr lang="en-US" dirty="0"/>
              <a:t> *</a:t>
            </a:r>
            <a:r>
              <a:rPr lang="en-US" dirty="0" err="1"/>
              <a:t>mutex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pthread_mutex_</a:t>
            </a:r>
            <a:r>
              <a:rPr lang="en-US" b="1" dirty="0" err="1"/>
              <a:t>unlock</a:t>
            </a:r>
            <a:r>
              <a:rPr lang="en-US" dirty="0"/>
              <a:t>(</a:t>
            </a:r>
            <a:r>
              <a:rPr lang="en-US" dirty="0" err="1"/>
              <a:t>pthread_mutex_t</a:t>
            </a:r>
            <a:r>
              <a:rPr lang="en-US" dirty="0"/>
              <a:t> *</a:t>
            </a:r>
            <a:r>
              <a:rPr lang="en-US" dirty="0" err="1"/>
              <a:t>mutex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pthread_mutex_</a:t>
            </a:r>
            <a:r>
              <a:rPr lang="en-US" b="1" dirty="0" err="1"/>
              <a:t>trylock</a:t>
            </a:r>
            <a:r>
              <a:rPr lang="en-US" dirty="0"/>
              <a:t>(</a:t>
            </a:r>
            <a:r>
              <a:rPr lang="en-US" dirty="0" err="1"/>
              <a:t>pthread_mutex_t</a:t>
            </a:r>
            <a:r>
              <a:rPr lang="en-US" dirty="0"/>
              <a:t> *</a:t>
            </a:r>
            <a:r>
              <a:rPr lang="en-US" dirty="0" err="1"/>
              <a:t>mutex</a:t>
            </a:r>
            <a:r>
              <a:rPr lang="en-US" dirty="0"/>
              <a:t>);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9778" y="4773841"/>
            <a:ext cx="2133600" cy="273844"/>
          </a:xfrm>
        </p:spPr>
        <p:txBody>
          <a:bodyPr/>
          <a:lstStyle/>
          <a:p>
            <a:fld id="{E3B08AF7-4237-6949-8335-F63F47C2C8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6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Viết chương trình C tạo </a:t>
            </a:r>
            <a:r>
              <a:rPr lang="vi-VN" b="1" dirty="0"/>
              <a:t>2 thread</a:t>
            </a:r>
            <a:r>
              <a:rPr lang="vi-VN" dirty="0"/>
              <a:t>, cả 2 thread lần lượt tăng biến đó </a:t>
            </a:r>
            <a:r>
              <a:rPr lang="vi-VN" b="1" dirty="0"/>
              <a:t>lên 1 đơn vị</a:t>
            </a:r>
            <a:r>
              <a:rPr lang="vi-VN" dirty="0"/>
              <a:t>, sử dụng </a:t>
            </a:r>
            <a:r>
              <a:rPr lang="vi-VN" b="1" dirty="0"/>
              <a:t>mutex</a:t>
            </a:r>
            <a:r>
              <a:rPr lang="vi-VN" dirty="0"/>
              <a:t> để đồng bộ việc ghi vào biến đó</a:t>
            </a:r>
            <a:r>
              <a:rPr lang="vi-VN" dirty="0" smtClean="0"/>
              <a:t>.</a:t>
            </a:r>
            <a:endParaRPr lang="en-US" dirty="0" smtClean="0"/>
          </a:p>
          <a:p>
            <a:r>
              <a:rPr lang="vi-VN" dirty="0"/>
              <a:t>Viết 1 chương trình C tạo ra </a:t>
            </a:r>
            <a:r>
              <a:rPr lang="vi-VN" b="1" dirty="0"/>
              <a:t>2 thread</a:t>
            </a:r>
            <a:r>
              <a:rPr lang="vi-VN" dirty="0"/>
              <a:t>, 2 thread đều </a:t>
            </a:r>
            <a:r>
              <a:rPr lang="vi-VN" b="1" dirty="0"/>
              <a:t>ghi vào chung 1 file</a:t>
            </a:r>
            <a:r>
              <a:rPr lang="vi-VN" dirty="0"/>
              <a:t>, sử dụng </a:t>
            </a:r>
            <a:r>
              <a:rPr lang="vi-VN" b="1" dirty="0"/>
              <a:t>mutex</a:t>
            </a:r>
            <a:r>
              <a:rPr lang="vi-VN" dirty="0"/>
              <a:t> để </a:t>
            </a:r>
            <a:r>
              <a:rPr lang="vi-VN" b="1" dirty="0"/>
              <a:t>bảo vệ file</a:t>
            </a:r>
            <a:r>
              <a:rPr lang="vi-VN" dirty="0"/>
              <a:t>, nên sử dụng </a:t>
            </a:r>
            <a:r>
              <a:rPr lang="vi-VN" b="1" dirty="0"/>
              <a:t>wrapper function </a:t>
            </a:r>
            <a:r>
              <a:rPr lang="vi-VN" dirty="0"/>
              <a:t>thay cho hàm ghi file thông thường.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7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Là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trong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có 2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để </a:t>
            </a:r>
            <a:r>
              <a:rPr lang="en-US" dirty="0" err="1"/>
              <a:t>chờ</a:t>
            </a:r>
            <a:r>
              <a:rPr lang="en-US" dirty="0"/>
              <a:t> đợi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của </a:t>
            </a:r>
            <a:r>
              <a:rPr lang="en-US" dirty="0" err="1"/>
              <a:t>nhau</a:t>
            </a:r>
            <a:r>
              <a:rPr lang="en-US" dirty="0" smtClean="0"/>
              <a:t>.</a:t>
            </a:r>
          </a:p>
          <a:p>
            <a:r>
              <a:rPr lang="en-US" dirty="0"/>
              <a:t>Có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có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 err="1"/>
              <a:t>nhiều</a:t>
            </a:r>
            <a:r>
              <a:rPr lang="en-US" b="1" dirty="0"/>
              <a:t> thread sử dụng chung </a:t>
            </a:r>
            <a:r>
              <a:rPr lang="en-US" b="1" dirty="0" err="1"/>
              <a:t>nhiều</a:t>
            </a:r>
            <a:r>
              <a:rPr lang="en-US" b="1" dirty="0"/>
              <a:t> lock </a:t>
            </a:r>
            <a:r>
              <a:rPr lang="en-US" dirty="0"/>
              <a:t>để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 smtClean="0"/>
              <a:t>.</a:t>
            </a:r>
          </a:p>
          <a:p>
            <a:r>
              <a:rPr lang="vi-VN" dirty="0"/>
              <a:t>Cách khắc phục: Giảm số lượng lock trong source code.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2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Có 1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smtClean="0"/>
              <a:t>khóa</a:t>
            </a:r>
          </a:p>
          <a:p>
            <a:r>
              <a:rPr lang="vi-VN" dirty="0"/>
              <a:t>Trong một thời điểm có thể có 1 hoặc nhiều thread có được </a:t>
            </a:r>
            <a:r>
              <a:rPr lang="vi-VN" dirty="0" smtClean="0"/>
              <a:t>khóa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5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</a:t>
            </a:r>
            <a:r>
              <a:rPr lang="en-US" dirty="0" smtClean="0"/>
              <a:t>code</a:t>
            </a:r>
          </a:p>
          <a:p>
            <a:pPr lvl="1"/>
            <a:r>
              <a:rPr lang="en-US" dirty="0" err="1"/>
              <a:t>sem_t</a:t>
            </a:r>
            <a:r>
              <a:rPr lang="en-US" dirty="0"/>
              <a:t> </a:t>
            </a:r>
            <a:r>
              <a:rPr lang="en-US" b="1" dirty="0" err="1"/>
              <a:t>sem_name</a:t>
            </a:r>
            <a:r>
              <a:rPr lang="en-US" dirty="0" smtClean="0"/>
              <a:t>;</a:t>
            </a:r>
          </a:p>
          <a:p>
            <a:pPr lvl="1"/>
            <a:r>
              <a:rPr lang="en-US" dirty="0"/>
              <a:t>int </a:t>
            </a:r>
            <a:r>
              <a:rPr lang="en-US" b="1" dirty="0" err="1"/>
              <a:t>sem_init</a:t>
            </a:r>
            <a:r>
              <a:rPr lang="en-US" dirty="0"/>
              <a:t>(</a:t>
            </a:r>
            <a:r>
              <a:rPr lang="en-US" dirty="0" err="1"/>
              <a:t>sem_t</a:t>
            </a:r>
            <a:r>
              <a:rPr lang="en-US" dirty="0"/>
              <a:t> *</a:t>
            </a:r>
            <a:r>
              <a:rPr lang="en-US" dirty="0" err="1"/>
              <a:t>sem</a:t>
            </a:r>
            <a:r>
              <a:rPr lang="en-US" dirty="0"/>
              <a:t>, int </a:t>
            </a:r>
            <a:r>
              <a:rPr lang="en-US" dirty="0" err="1"/>
              <a:t>pshared</a:t>
            </a:r>
            <a:r>
              <a:rPr lang="en-US" dirty="0"/>
              <a:t>, unsigned int value</a:t>
            </a:r>
            <a:r>
              <a:rPr lang="en-US" dirty="0" smtClean="0"/>
              <a:t>);</a:t>
            </a:r>
          </a:p>
          <a:p>
            <a:pPr lvl="1"/>
            <a:r>
              <a:rPr lang="en-US" dirty="0"/>
              <a:t>int </a:t>
            </a:r>
            <a:r>
              <a:rPr lang="en-US" b="1" dirty="0" err="1"/>
              <a:t>sem_wait</a:t>
            </a:r>
            <a:r>
              <a:rPr lang="en-US" dirty="0"/>
              <a:t>(</a:t>
            </a:r>
            <a:r>
              <a:rPr lang="en-US" dirty="0" err="1"/>
              <a:t>sem_t</a:t>
            </a:r>
            <a:r>
              <a:rPr lang="en-US" dirty="0"/>
              <a:t> *</a:t>
            </a:r>
            <a:r>
              <a:rPr lang="en-US" dirty="0" err="1"/>
              <a:t>sem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int </a:t>
            </a:r>
            <a:r>
              <a:rPr lang="en-US" b="1" dirty="0" err="1"/>
              <a:t>sem_post</a:t>
            </a:r>
            <a:r>
              <a:rPr lang="en-US" dirty="0"/>
              <a:t>(</a:t>
            </a:r>
            <a:r>
              <a:rPr lang="en-US" dirty="0" err="1"/>
              <a:t>sem_t</a:t>
            </a:r>
            <a:r>
              <a:rPr lang="en-US" dirty="0"/>
              <a:t> *</a:t>
            </a:r>
            <a:r>
              <a:rPr lang="en-US" dirty="0" err="1"/>
              <a:t>sem</a:t>
            </a:r>
            <a:r>
              <a:rPr lang="en-US" dirty="0" smtClean="0"/>
              <a:t>);</a:t>
            </a:r>
          </a:p>
          <a:p>
            <a:pPr lvl="1"/>
            <a:r>
              <a:rPr lang="en-US" dirty="0"/>
              <a:t>int </a:t>
            </a:r>
            <a:r>
              <a:rPr lang="en-US" b="1" dirty="0" err="1"/>
              <a:t>sem_destroy</a:t>
            </a:r>
            <a:r>
              <a:rPr lang="en-US" dirty="0"/>
              <a:t>(</a:t>
            </a:r>
            <a:r>
              <a:rPr lang="en-US" dirty="0" err="1"/>
              <a:t>sem_t</a:t>
            </a:r>
            <a:r>
              <a:rPr lang="en-US" dirty="0"/>
              <a:t> *</a:t>
            </a:r>
            <a:r>
              <a:rPr lang="en-US" dirty="0" err="1"/>
              <a:t>sem</a:t>
            </a:r>
            <a:r>
              <a:rPr lang="en-US" dirty="0"/>
              <a:t>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5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rapper </a:t>
            </a:r>
            <a:r>
              <a:rPr lang="en-US" dirty="0"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Tạo</a:t>
            </a:r>
            <a:r>
              <a:rPr lang="en-US" b="1" dirty="0"/>
              <a:t> các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đọc</a:t>
            </a:r>
            <a:r>
              <a:rPr lang="en-US" b="1" dirty="0"/>
              <a:t> </a:t>
            </a:r>
            <a:r>
              <a:rPr lang="en-US" b="1" dirty="0" err="1"/>
              <a:t>ghi</a:t>
            </a:r>
            <a:r>
              <a:rPr lang="en-US" b="1" dirty="0"/>
              <a:t> </a:t>
            </a:r>
            <a:r>
              <a:rPr lang="en-US" b="1" dirty="0" err="1"/>
              <a:t>riêng</a:t>
            </a:r>
            <a:r>
              <a:rPr lang="en-US" b="1" dirty="0"/>
              <a:t> </a:t>
            </a:r>
            <a:r>
              <a:rPr lang="en-US" dirty="0"/>
              <a:t>cho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nguyên</a:t>
            </a:r>
            <a:r>
              <a:rPr lang="en-US" b="1" dirty="0"/>
              <a:t> có thể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xung</a:t>
            </a:r>
            <a:r>
              <a:rPr lang="en-US" b="1" dirty="0"/>
              <a:t> </a:t>
            </a:r>
            <a:r>
              <a:rPr lang="en-US" b="1" dirty="0" err="1"/>
              <a:t>đột</a:t>
            </a:r>
            <a:r>
              <a:rPr lang="en-US" b="1" dirty="0" smtClean="0"/>
              <a:t>.</a:t>
            </a:r>
          </a:p>
          <a:p>
            <a:r>
              <a:rPr lang="en-US" dirty="0"/>
              <a:t>Sử dụng các </a:t>
            </a:r>
            <a:r>
              <a:rPr lang="en-US" b="1" dirty="0"/>
              <a:t>trick của C </a:t>
            </a:r>
            <a:r>
              <a:rPr lang="en-US" dirty="0"/>
              <a:t>để </a:t>
            </a:r>
            <a:r>
              <a:rPr lang="en-US" b="1" dirty="0" err="1"/>
              <a:t>giấu</a:t>
            </a:r>
            <a:r>
              <a:rPr lang="en-US" b="1" dirty="0"/>
              <a:t> </a:t>
            </a:r>
            <a:r>
              <a:rPr lang="en-US" b="1" dirty="0" err="1"/>
              <a:t>đi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nguyên</a:t>
            </a:r>
            <a:r>
              <a:rPr lang="en-US" b="1" dirty="0"/>
              <a:t> đó</a:t>
            </a:r>
            <a:r>
              <a:rPr lang="en-US" dirty="0"/>
              <a:t>,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cung</a:t>
            </a:r>
            <a:r>
              <a:rPr lang="en-US" b="1" dirty="0"/>
              <a:t> </a:t>
            </a:r>
            <a:r>
              <a:rPr lang="en-US" b="1" dirty="0" err="1"/>
              <a:t>cấp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ngoài</a:t>
            </a:r>
            <a:r>
              <a:rPr lang="en-US" b="1" dirty="0"/>
              <a:t> các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đọc</a:t>
            </a:r>
            <a:r>
              <a:rPr lang="en-US" b="1" dirty="0"/>
              <a:t> </a:t>
            </a:r>
            <a:r>
              <a:rPr lang="en-US" b="1" dirty="0" err="1"/>
              <a:t>ghi</a:t>
            </a:r>
            <a:r>
              <a:rPr lang="en-US" b="1" dirty="0" smtClean="0"/>
              <a:t>.</a:t>
            </a:r>
          </a:p>
          <a:p>
            <a:r>
              <a:rPr lang="en-US" dirty="0"/>
              <a:t>Minh </a:t>
            </a:r>
            <a:r>
              <a:rPr lang="en-US" dirty="0" err="1"/>
              <a:t>họa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6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Viết 1 chương trình C tạo ra </a:t>
            </a:r>
            <a:r>
              <a:rPr lang="vi-VN" b="1" dirty="0"/>
              <a:t>3 thread</a:t>
            </a:r>
            <a:r>
              <a:rPr lang="vi-VN" dirty="0"/>
              <a:t>, các thread lần lượt được </a:t>
            </a:r>
            <a:r>
              <a:rPr lang="vi-VN" b="1" dirty="0"/>
              <a:t>tăng 1 biến chung </a:t>
            </a:r>
            <a:r>
              <a:rPr lang="vi-VN" dirty="0"/>
              <a:t>thêm một đơn vị và </a:t>
            </a:r>
            <a:r>
              <a:rPr lang="vi-VN" b="1" dirty="0"/>
              <a:t>ghi giá trị mới vào 1 trong 2 file output.</a:t>
            </a:r>
            <a:r>
              <a:rPr lang="vi-VN" dirty="0"/>
              <a:t> </a:t>
            </a:r>
            <a:r>
              <a:rPr lang="vi-VN" b="1" dirty="0"/>
              <a:t>Sử dụng semaphore </a:t>
            </a:r>
            <a:r>
              <a:rPr lang="vi-VN" dirty="0"/>
              <a:t>để đồng bộ việc ghi vào 2 </a:t>
            </a:r>
            <a:r>
              <a:rPr lang="vi-VN" dirty="0" smtClean="0"/>
              <a:t>file</a:t>
            </a:r>
            <a:endParaRPr lang="en-US" dirty="0" smtClean="0"/>
          </a:p>
          <a:p>
            <a:r>
              <a:rPr lang="vi-VN" dirty="0"/>
              <a:t>Tạo </a:t>
            </a:r>
            <a:r>
              <a:rPr lang="vi-VN" b="1" dirty="0"/>
              <a:t>10 ma trận kích thước 200x200</a:t>
            </a:r>
            <a:r>
              <a:rPr lang="vi-VN" dirty="0"/>
              <a:t>. </a:t>
            </a:r>
            <a:r>
              <a:rPr lang="vi-VN" b="1" dirty="0"/>
              <a:t>Nhân 10 ma trận đó với nhau sử dụng multi thread</a:t>
            </a:r>
            <a:r>
              <a:rPr lang="vi-VN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5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960" y="2082799"/>
            <a:ext cx="5115560" cy="678021"/>
          </a:xfrm>
        </p:spPr>
        <p:txBody>
          <a:bodyPr>
            <a:noAutofit/>
          </a:bodyPr>
          <a:lstStyle/>
          <a:p>
            <a:r>
              <a:rPr lang="en-US" sz="6600" dirty="0" smtClean="0">
                <a:solidFill>
                  <a:schemeClr val="accent6">
                    <a:lumMod val="75000"/>
                  </a:schemeClr>
                </a:solidFill>
                <a:cs typeface="Arial"/>
              </a:rPr>
              <a:t>Thank you</a:t>
            </a:r>
            <a:endParaRPr lang="en-US" sz="6600" dirty="0">
              <a:solidFill>
                <a:schemeClr val="accent6">
                  <a:lumMod val="75000"/>
                </a:schemeClr>
              </a:solidFill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©FPT SOFTWARE - Corporate Training Center - Internal 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2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_Internal_Cour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Template_Internal_Course</Template>
  <TotalTime>1805</TotalTime>
  <Words>977</Words>
  <Application>Microsoft Office PowerPoint</Application>
  <PresentationFormat>On-screen Show (16:9)</PresentationFormat>
  <Paragraphs>117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Template_Internal_Course</vt:lpstr>
      <vt:lpstr>Lập trình multithread</vt:lpstr>
      <vt:lpstr>Agenda</vt:lpstr>
      <vt:lpstr>Định nghĩa</vt:lpstr>
      <vt:lpstr>Ưu điểm nhược điểm</vt:lpstr>
      <vt:lpstr>Tạo mới một thread</vt:lpstr>
      <vt:lpstr>Kết thúc một thread</vt:lpstr>
      <vt:lpstr>Thực hành</vt:lpstr>
      <vt:lpstr>PowerPoint Presentation</vt:lpstr>
      <vt:lpstr>Mất đồng bộ dữ liệu giữa các thread</vt:lpstr>
      <vt:lpstr>Mutex</vt:lpstr>
      <vt:lpstr>Mutex</vt:lpstr>
      <vt:lpstr>Thực hành</vt:lpstr>
      <vt:lpstr>Dead lock</vt:lpstr>
      <vt:lpstr>Semaphore</vt:lpstr>
      <vt:lpstr>Semaphore</vt:lpstr>
      <vt:lpstr>Wrapper function</vt:lpstr>
      <vt:lpstr>Thực hành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 Tuan Linh (FHO.FWA)</dc:creator>
  <cp:lastModifiedBy>Microsoft account</cp:lastModifiedBy>
  <cp:revision>233</cp:revision>
  <dcterms:created xsi:type="dcterms:W3CDTF">2015-08-31T01:44:46Z</dcterms:created>
  <dcterms:modified xsi:type="dcterms:W3CDTF">2025-11-02T12:09:02Z</dcterms:modified>
</cp:coreProperties>
</file>