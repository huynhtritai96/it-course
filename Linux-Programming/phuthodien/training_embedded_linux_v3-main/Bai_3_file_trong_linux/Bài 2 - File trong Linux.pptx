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7" r:id="rId3"/>
    <p:sldId id="259" r:id="rId4"/>
    <p:sldId id="271" r:id="rId5"/>
    <p:sldId id="272" r:id="rId6"/>
    <p:sldId id="266" r:id="rId7"/>
    <p:sldId id="267" r:id="rId8"/>
    <p:sldId id="288" r:id="rId9"/>
    <p:sldId id="289" r:id="rId10"/>
    <p:sldId id="283" r:id="rId11"/>
    <p:sldId id="284" r:id="rId12"/>
    <p:sldId id="285" r:id="rId13"/>
    <p:sldId id="286" r:id="rId14"/>
    <p:sldId id="280" r:id="rId15"/>
    <p:sldId id="287" r:id="rId16"/>
    <p:sldId id="281" r:id="rId17"/>
    <p:sldId id="282" r:id="rId18"/>
    <p:sldId id="275" r:id="rId19"/>
    <p:sldId id="276" r:id="rId20"/>
    <p:sldId id="268" r:id="rId21"/>
    <p:sldId id="258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4336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974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6B2F8-E390-BD4F-9ACD-789C35D23CE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0A0C1-BF67-B440-B7AD-B68AAB032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41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F8F81-D7B9-424E-B993-6D09B3871A4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067B3-3AE6-DD4A-9E3D-C999AB39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4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Regular file</a:t>
            </a:r>
          </a:p>
          <a:p>
            <a:r>
              <a:rPr lang="en-US" dirty="0"/>
              <a:t>	Là </a:t>
            </a:r>
            <a:r>
              <a:rPr lang="en-US" dirty="0" err="1"/>
              <a:t>cái</a:t>
            </a:r>
            <a:r>
              <a:rPr lang="en-US" dirty="0"/>
              <a:t> file </a:t>
            </a:r>
            <a:r>
              <a:rPr lang="en-US" dirty="0" err="1"/>
              <a:t>chứa</a:t>
            </a:r>
            <a:r>
              <a:rPr lang="en-US" dirty="0"/>
              <a:t> dữ liệu và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b="1" dirty="0"/>
              <a:t>trong ổ </a:t>
            </a:r>
            <a:r>
              <a:rPr lang="en-US" b="1" dirty="0" err="1"/>
              <a:t>cứng</a:t>
            </a:r>
            <a:endParaRPr lang="en-US" b="1" dirty="0"/>
          </a:p>
          <a:p>
            <a:r>
              <a:rPr lang="en-US" dirty="0"/>
              <a:t>	</a:t>
            </a:r>
            <a:r>
              <a:rPr lang="en-US" b="1" dirty="0"/>
              <a:t>Không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mất</a:t>
            </a:r>
            <a:r>
              <a:rPr lang="en-US" b="1" dirty="0"/>
              <a:t> </a:t>
            </a:r>
            <a:r>
              <a:rPr lang="en-US" b="1" dirty="0" err="1"/>
              <a:t>đi</a:t>
            </a:r>
            <a:r>
              <a:rPr lang="en-US" b="1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lại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file sẽ </a:t>
            </a:r>
            <a:r>
              <a:rPr lang="en-US" b="1" dirty="0"/>
              <a:t>có format dữ liệu </a:t>
            </a:r>
            <a:r>
              <a:rPr lang="en-US" b="1" dirty="0" err="1"/>
              <a:t>riêng</a:t>
            </a:r>
            <a:endParaRPr lang="en-US" b="1" dirty="0"/>
          </a:p>
          <a:p>
            <a:r>
              <a:rPr lang="en-US" b="1" dirty="0"/>
              <a:t>Directory</a:t>
            </a:r>
          </a:p>
          <a:p>
            <a:r>
              <a:rPr lang="en-US" dirty="0"/>
              <a:t>	</a:t>
            </a:r>
            <a:r>
              <a:rPr lang="fr-FR" dirty="0"/>
              <a:t>Là file </a:t>
            </a:r>
            <a:r>
              <a:rPr lang="fr-FR" dirty="0" err="1"/>
              <a:t>nằm</a:t>
            </a:r>
            <a:r>
              <a:rPr lang="fr-FR" dirty="0"/>
              <a:t> trên </a:t>
            </a:r>
            <a:r>
              <a:rPr lang="fr-FR" b="1" dirty="0"/>
              <a:t>ổ </a:t>
            </a:r>
            <a:r>
              <a:rPr lang="fr-FR" b="1" dirty="0" err="1"/>
              <a:t>cứng</a:t>
            </a:r>
            <a:r>
              <a:rPr lang="fr-FR" dirty="0"/>
              <a:t>.</a:t>
            </a:r>
          </a:p>
          <a:p>
            <a:r>
              <a:rPr lang="fr-FR" dirty="0"/>
              <a:t>	</a:t>
            </a:r>
            <a:r>
              <a:rPr lang="vi-VN" dirty="0"/>
              <a:t>Dữ liệu trong thư mục là tên là một số thông tin của các file nằm trong nó.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directory cho mọi người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endParaRPr lang="en-US" dirty="0"/>
          </a:p>
          <a:p>
            <a:r>
              <a:rPr lang="en-US" b="1" dirty="0"/>
              <a:t>Các </a:t>
            </a:r>
            <a:r>
              <a:rPr lang="en-US" b="1" dirty="0" err="1"/>
              <a:t>loại</a:t>
            </a:r>
            <a:r>
              <a:rPr lang="en-US" b="1" dirty="0"/>
              <a:t> file </a:t>
            </a:r>
            <a:r>
              <a:rPr lang="en-US" b="1" dirty="0" err="1"/>
              <a:t>khác</a:t>
            </a:r>
            <a:endParaRPr lang="en-US" b="1" dirty="0"/>
          </a:p>
          <a:p>
            <a:r>
              <a:rPr lang="en-US" dirty="0"/>
              <a:t>	</a:t>
            </a:r>
            <a:r>
              <a:rPr lang="en-US" b="1" dirty="0"/>
              <a:t>Meta data: </a:t>
            </a:r>
            <a:r>
              <a:rPr lang="en-US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r>
              <a:rPr lang="en-US" baseline="0" dirty="0"/>
              <a:t> </a:t>
            </a:r>
            <a:r>
              <a:rPr lang="en-US" baseline="0" dirty="0" err="1"/>
              <a:t>khi</a:t>
            </a:r>
            <a:r>
              <a:rPr lang="en-US" baseline="0" dirty="0"/>
              <a:t> dùng </a:t>
            </a:r>
            <a:r>
              <a:rPr lang="en-US" b="1" baseline="0" dirty="0" err="1"/>
              <a:t>Makefile</a:t>
            </a:r>
            <a:r>
              <a:rPr lang="en-US" b="1" baseline="0" dirty="0"/>
              <a:t> build code </a:t>
            </a:r>
            <a:r>
              <a:rPr lang="en-US" baseline="0" dirty="0" err="1"/>
              <a:t>thì</a:t>
            </a:r>
            <a:r>
              <a:rPr lang="en-US" baseline="0" dirty="0"/>
              <a:t> sẽ </a:t>
            </a:r>
            <a:r>
              <a:rPr lang="en-US" b="1" baseline="0" dirty="0" err="1"/>
              <a:t>sinh</a:t>
            </a:r>
            <a:r>
              <a:rPr lang="en-US" b="1" baseline="0" dirty="0"/>
              <a:t> </a:t>
            </a:r>
            <a:r>
              <a:rPr lang="en-US" b="1" baseline="0" dirty="0" err="1"/>
              <a:t>ra</a:t>
            </a:r>
            <a:r>
              <a:rPr lang="en-US" b="1" baseline="0" dirty="0"/>
              <a:t> 1 </a:t>
            </a:r>
            <a:r>
              <a:rPr lang="en-US" b="1" baseline="0" dirty="0" err="1"/>
              <a:t>loạt</a:t>
            </a:r>
            <a:r>
              <a:rPr lang="en-US" b="1" baseline="0" dirty="0"/>
              <a:t> file </a:t>
            </a:r>
            <a:r>
              <a:rPr lang="en-US" b="1" baseline="0" dirty="0" err="1"/>
              <a:t>ẩn</a:t>
            </a:r>
            <a:r>
              <a:rPr lang="en-US" b="1" baseline="0" dirty="0"/>
              <a:t> để </a:t>
            </a:r>
            <a:r>
              <a:rPr lang="en-US" b="1" baseline="0" dirty="0" err="1"/>
              <a:t>chứa</a:t>
            </a:r>
            <a:r>
              <a:rPr lang="en-US" b="1" baseline="0" dirty="0"/>
              <a:t> thông tin </a:t>
            </a:r>
            <a:r>
              <a:rPr lang="en-US" b="1" baseline="0" dirty="0" err="1"/>
              <a:t>lần</a:t>
            </a:r>
            <a:r>
              <a:rPr lang="en-US" b="1" baseline="0" dirty="0"/>
              <a:t> build đó.</a:t>
            </a:r>
            <a:endParaRPr lang="en-US" b="1" dirty="0"/>
          </a:p>
          <a:p>
            <a:r>
              <a:rPr lang="en-US" dirty="0"/>
              <a:t>	</a:t>
            </a:r>
            <a:r>
              <a:rPr lang="en-US" b="1" dirty="0"/>
              <a:t>Symbolic link</a:t>
            </a:r>
          </a:p>
          <a:p>
            <a:r>
              <a:rPr lang="en-US" dirty="0"/>
              <a:t>	</a:t>
            </a:r>
            <a:r>
              <a:rPr lang="en-US" b="1" dirty="0"/>
              <a:t>virtual file</a:t>
            </a:r>
          </a:p>
          <a:p>
            <a:pPr lvl="2"/>
            <a:r>
              <a:rPr lang="en-US" b="1" dirty="0"/>
              <a:t>Socket</a:t>
            </a:r>
            <a:r>
              <a:rPr lang="en-US" dirty="0"/>
              <a:t>: Được</a:t>
            </a:r>
            <a:r>
              <a:rPr lang="en-US" baseline="0" dirty="0"/>
              <a:t> </a:t>
            </a:r>
            <a:r>
              <a:rPr lang="en-US" baseline="0" dirty="0" err="1"/>
              <a:t>lưu</a:t>
            </a:r>
            <a:r>
              <a:rPr lang="en-US" baseline="0" dirty="0"/>
              <a:t> trong /</a:t>
            </a:r>
            <a:r>
              <a:rPr lang="en-US" baseline="0" dirty="0" err="1"/>
              <a:t>proc</a:t>
            </a:r>
            <a:r>
              <a:rPr lang="en-US" baseline="0" dirty="0"/>
              <a:t>/net/</a:t>
            </a:r>
            <a:r>
              <a:rPr lang="en-US" baseline="0" dirty="0" err="1"/>
              <a:t>tcp</a:t>
            </a:r>
            <a:endParaRPr lang="en-US" dirty="0"/>
          </a:p>
          <a:p>
            <a:r>
              <a:rPr lang="en-US" dirty="0"/>
              <a:t>		</a:t>
            </a:r>
            <a:r>
              <a:rPr lang="en-US" b="1" dirty="0"/>
              <a:t>Device file</a:t>
            </a:r>
            <a:r>
              <a:rPr lang="en-US" dirty="0"/>
              <a:t>: Được</a:t>
            </a:r>
            <a:r>
              <a:rPr lang="en-US" baseline="0" dirty="0"/>
              <a:t> </a:t>
            </a:r>
            <a:r>
              <a:rPr lang="en-US" baseline="0" dirty="0" err="1"/>
              <a:t>lưu</a:t>
            </a:r>
            <a:r>
              <a:rPr lang="en-US" baseline="0" dirty="0"/>
              <a:t> trong /dev</a:t>
            </a:r>
            <a:endParaRPr lang="en-US" dirty="0"/>
          </a:p>
          <a:p>
            <a:r>
              <a:rPr lang="en-US" dirty="0"/>
              <a:t>		</a:t>
            </a:r>
            <a:r>
              <a:rPr lang="en-US" b="1" dirty="0"/>
              <a:t>STDIN, STDOUT, STDERR</a:t>
            </a:r>
          </a:p>
          <a:p>
            <a:pPr lvl="2"/>
            <a:r>
              <a:rPr lang="vi-VN" b="1" dirty="0"/>
              <a:t>Các virtual file</a:t>
            </a:r>
            <a:r>
              <a:rPr lang="vi-VN" dirty="0"/>
              <a:t> không được lưu trên ổ cứng mà sẽ được OS khởi tạo và nằm trong RAM. Khi tắt máy chúng sẽ biến mất và được tạo lại khi OS khởi động.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 thử </a:t>
            </a:r>
            <a:r>
              <a:rPr lang="vi-V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 binary </a:t>
            </a: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 mọi người 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chuyen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hoa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cho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nguoi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11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các file data từ ổ </a:t>
            </a:r>
            <a:r>
              <a:rPr lang="en-US" dirty="0" err="1"/>
              <a:t>cứng</a:t>
            </a:r>
            <a:endParaRPr lang="en-US" dirty="0"/>
          </a:p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b="1" dirty="0" err="1"/>
              <a:t>proc</a:t>
            </a:r>
            <a:r>
              <a:rPr lang="en-US" b="1" dirty="0"/>
              <a:t>/</a:t>
            </a:r>
            <a:r>
              <a:rPr lang="en-US" b="1" dirty="0" err="1"/>
              <a:t>pid</a:t>
            </a:r>
            <a:r>
              <a:rPr lang="en-US" b="1" dirty="0"/>
              <a:t> </a:t>
            </a:r>
            <a:r>
              <a:rPr lang="en-US" dirty="0"/>
              <a:t>từ các </a:t>
            </a:r>
            <a:r>
              <a:rPr lang="en-US" b="1" dirty="0"/>
              <a:t>process</a:t>
            </a:r>
          </a:p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b="1" dirty="0"/>
              <a:t>/dev/ </a:t>
            </a:r>
            <a:r>
              <a:rPr lang="en-US" dirty="0"/>
              <a:t>từ </a:t>
            </a:r>
            <a:r>
              <a:rPr lang="en-US" b="1" dirty="0"/>
              <a:t>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11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smtClean="0">
                <a:effectLst/>
              </a:rPr>
              <a:t>Hàm </a:t>
            </a:r>
            <a:r>
              <a:rPr lang="en-US" dirty="0" smtClean="0">
                <a:effectLst/>
              </a:rPr>
              <a:t>open </a:t>
            </a:r>
            <a:r>
              <a:rPr lang="vi-VN" dirty="0" smtClean="0">
                <a:effectLst/>
              </a:rPr>
              <a:t>nếu truyền </a:t>
            </a:r>
            <a:r>
              <a:rPr lang="en-US" baseline="0" dirty="0" smtClean="0">
                <a:effectLst/>
              </a:rPr>
              <a:t>option </a:t>
            </a:r>
            <a:r>
              <a:rPr lang="en-US" baseline="0" dirty="0">
                <a:effectLst/>
              </a:rPr>
              <a:t>“w” </a:t>
            </a:r>
            <a:r>
              <a:rPr lang="vi-VN" baseline="0" dirty="0" smtClean="0">
                <a:effectLst/>
              </a:rPr>
              <a:t>hoặc </a:t>
            </a:r>
            <a:r>
              <a:rPr lang="en-US" baseline="0" dirty="0" smtClean="0">
                <a:effectLst/>
              </a:rPr>
              <a:t>“a</a:t>
            </a:r>
            <a:r>
              <a:rPr lang="en-US" baseline="0" dirty="0">
                <a:effectLst/>
              </a:rPr>
              <a:t>” </a:t>
            </a:r>
            <a:r>
              <a:rPr lang="vi-VN" baseline="0" dirty="0" smtClean="0">
                <a:effectLst/>
              </a:rPr>
              <a:t>sẽ </a:t>
            </a:r>
            <a:r>
              <a:rPr lang="en-US" baseline="0" dirty="0" err="1" smtClean="0">
                <a:effectLst/>
              </a:rPr>
              <a:t>tao</a:t>
            </a:r>
            <a:r>
              <a:rPr lang="en-US" baseline="0" dirty="0" smtClean="0">
                <a:effectLst/>
              </a:rPr>
              <a:t> </a:t>
            </a:r>
            <a:r>
              <a:rPr lang="en-US" baseline="0" dirty="0">
                <a:effectLst/>
              </a:rPr>
              <a:t>file </a:t>
            </a:r>
            <a:r>
              <a:rPr lang="vi-VN" baseline="0" dirty="0" smtClean="0">
                <a:effectLst/>
              </a:rPr>
              <a:t>mới nếu file không tồn tại</a:t>
            </a:r>
          </a:p>
          <a:p>
            <a:r>
              <a:rPr lang="vi-VN" baseline="0" dirty="0" smtClean="0">
                <a:effectLst/>
              </a:rPr>
              <a:t>Nên </a:t>
            </a:r>
            <a:r>
              <a:rPr lang="en-US" baseline="0" dirty="0" smtClean="0">
                <a:effectLst/>
              </a:rPr>
              <a:t>check </a:t>
            </a:r>
            <a:r>
              <a:rPr lang="en-US" baseline="0" dirty="0">
                <a:effectLst/>
              </a:rPr>
              <a:t>file fd &gt; 0 </a:t>
            </a:r>
            <a:r>
              <a:rPr lang="vi-VN" baseline="0" dirty="0" smtClean="0">
                <a:effectLst/>
              </a:rPr>
              <a:t>trước khi ghi </a:t>
            </a:r>
          </a:p>
          <a:p>
            <a:r>
              <a:rPr lang="vi-VN" baseline="0" dirty="0" smtClean="0">
                <a:effectLst/>
              </a:rPr>
              <a:t>Nhớ </a:t>
            </a:r>
            <a:r>
              <a:rPr lang="en-US" baseline="0" dirty="0" smtClean="0">
                <a:effectLst/>
              </a:rPr>
              <a:t>close </a:t>
            </a:r>
            <a:r>
              <a:rPr lang="vi-VN" baseline="0" dirty="0" smtClean="0">
                <a:effectLst/>
              </a:rPr>
              <a:t>mọi khi </a:t>
            </a:r>
            <a:r>
              <a:rPr lang="en-US" baseline="0" dirty="0" smtClean="0">
                <a:effectLst/>
              </a:rPr>
              <a:t>open</a:t>
            </a:r>
            <a:r>
              <a:rPr lang="en-US" baseline="0" dirty="0">
                <a:effectLst/>
              </a:rPr>
              <a:t>, </a:t>
            </a:r>
            <a:r>
              <a:rPr lang="en-US" baseline="0" dirty="0" err="1">
                <a:effectLst/>
              </a:rPr>
              <a:t>kể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chuyện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quên</a:t>
            </a:r>
            <a:r>
              <a:rPr lang="en-US" baseline="0" dirty="0">
                <a:effectLst/>
              </a:rPr>
              <a:t> không </a:t>
            </a:r>
            <a:r>
              <a:rPr lang="en-US" baseline="0" dirty="0" err="1">
                <a:effectLst/>
              </a:rPr>
              <a:t>đóng</a:t>
            </a:r>
            <a:r>
              <a:rPr lang="en-US" baseline="0" dirty="0">
                <a:effectLst/>
              </a:rPr>
              <a:t> file.</a:t>
            </a:r>
          </a:p>
          <a:p>
            <a:r>
              <a:rPr lang="en-US" baseline="0" dirty="0" err="1">
                <a:effectLst/>
              </a:rPr>
              <a:t>Giải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thích</a:t>
            </a:r>
            <a:r>
              <a:rPr lang="en-US" baseline="0" dirty="0">
                <a:effectLst/>
              </a:rPr>
              <a:t> cho mọi người cache data </a:t>
            </a:r>
            <a:r>
              <a:rPr lang="en-US" baseline="0" dirty="0" err="1">
                <a:effectLst/>
              </a:rPr>
              <a:t>khi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nói</a:t>
            </a:r>
            <a:r>
              <a:rPr lang="en-US" baseline="0" dirty="0">
                <a:effectLst/>
              </a:rPr>
              <a:t> về </a:t>
            </a:r>
            <a:r>
              <a:rPr lang="en-US" baseline="0" dirty="0" err="1">
                <a:effectLst/>
              </a:rPr>
              <a:t>hàm</a:t>
            </a:r>
            <a:r>
              <a:rPr lang="en-US" baseline="0" dirty="0">
                <a:effectLst/>
              </a:rPr>
              <a:t> sync, </a:t>
            </a:r>
            <a:r>
              <a:rPr lang="en-US" baseline="0" dirty="0" err="1">
                <a:effectLst/>
              </a:rPr>
              <a:t>gợi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nhớ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đến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hàm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fflush</a:t>
            </a:r>
            <a:r>
              <a:rPr lang="en-US" baseline="0" dirty="0">
                <a:effectLst/>
              </a:rPr>
              <a:t>.</a:t>
            </a:r>
          </a:p>
          <a:p>
            <a:endParaRPr lang="en-US" baseline="0" dirty="0">
              <a:effectLst/>
            </a:endParaRPr>
          </a:p>
          <a:p>
            <a:r>
              <a:rPr lang="en-US" dirty="0" err="1">
                <a:effectLst/>
              </a:rPr>
              <a:t>Những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lưu</a:t>
            </a:r>
            <a:r>
              <a:rPr lang="en-US" baseline="0" dirty="0">
                <a:effectLst/>
              </a:rPr>
              <a:t> ý của </a:t>
            </a:r>
            <a:r>
              <a:rPr lang="en-US" baseline="0" dirty="0" err="1">
                <a:effectLst/>
              </a:rPr>
              <a:t>hàm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open()</a:t>
            </a:r>
          </a:p>
          <a:p>
            <a:pPr lvl="1"/>
            <a:r>
              <a:rPr lang="en-US" dirty="0">
                <a:effectLst/>
              </a:rPr>
              <a:t>- int </a:t>
            </a:r>
            <a:r>
              <a:rPr lang="en-US" b="1" dirty="0">
                <a:effectLst/>
              </a:rPr>
              <a:t>open</a:t>
            </a:r>
            <a:r>
              <a:rPr lang="en-US" b="0" dirty="0">
                <a:effectLst/>
              </a:rPr>
              <a:t>(const</a:t>
            </a:r>
            <a:r>
              <a:rPr lang="en-US" dirty="0">
                <a:effectLst/>
              </a:rPr>
              <a:t> char *pathname, int flags);</a:t>
            </a:r>
          </a:p>
          <a:p>
            <a:pPr lvl="2"/>
            <a:r>
              <a:rPr lang="en-US" b="1" dirty="0">
                <a:effectLst/>
              </a:rPr>
              <a:t>Header</a:t>
            </a:r>
            <a:r>
              <a:rPr lang="en-US" dirty="0">
                <a:effectLst/>
              </a:rPr>
              <a:t>:</a:t>
            </a:r>
          </a:p>
          <a:p>
            <a:pPr lvl="3"/>
            <a:r>
              <a:rPr lang="en-US" dirty="0">
                <a:effectLst/>
              </a:rPr>
              <a:t>#include &lt;sys/</a:t>
            </a:r>
            <a:r>
              <a:rPr lang="en-US" dirty="0" err="1">
                <a:effectLst/>
              </a:rPr>
              <a:t>types.h</a:t>
            </a:r>
            <a:r>
              <a:rPr lang="en-US" dirty="0">
                <a:effectLst/>
              </a:rPr>
              <a:t>&gt;</a:t>
            </a:r>
          </a:p>
          <a:p>
            <a:pPr lvl="3"/>
            <a:r>
              <a:rPr lang="en-US" dirty="0">
                <a:effectLst/>
              </a:rPr>
              <a:t>#include &lt;sys/</a:t>
            </a:r>
            <a:r>
              <a:rPr lang="en-US" dirty="0" err="1">
                <a:effectLst/>
              </a:rPr>
              <a:t>stat.h</a:t>
            </a:r>
            <a:r>
              <a:rPr lang="en-US" dirty="0">
                <a:effectLst/>
              </a:rPr>
              <a:t>&gt;</a:t>
            </a:r>
          </a:p>
          <a:p>
            <a:pPr lvl="3"/>
            <a:r>
              <a:rPr lang="en-US" dirty="0">
                <a:effectLst/>
              </a:rPr>
              <a:t>#include &lt;</a:t>
            </a:r>
            <a:r>
              <a:rPr lang="en-US" dirty="0" err="1">
                <a:effectLst/>
              </a:rPr>
              <a:t>fcntl.h</a:t>
            </a:r>
            <a:r>
              <a:rPr lang="en-US" dirty="0">
                <a:effectLst/>
              </a:rPr>
              <a:t>&gt;</a:t>
            </a:r>
          </a:p>
          <a:p>
            <a:pPr lvl="0"/>
            <a:r>
              <a:rPr lang="en-US" dirty="0" err="1">
                <a:effectLst/>
              </a:rPr>
              <a:t>Những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lưu</a:t>
            </a:r>
            <a:r>
              <a:rPr lang="en-US" baseline="0" dirty="0">
                <a:effectLst/>
              </a:rPr>
              <a:t> ý của </a:t>
            </a:r>
            <a:r>
              <a:rPr lang="en-US" baseline="0" dirty="0" err="1">
                <a:effectLst/>
              </a:rPr>
              <a:t>hàm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sync()</a:t>
            </a:r>
          </a:p>
          <a:p>
            <a:pPr lvl="1"/>
            <a:r>
              <a:rPr lang="vi-VN" dirty="0">
                <a:effectLst/>
              </a:rPr>
              <a:t>Flush tất cả cached data của tất cả các file đang mở trong hệ thống xuống ổ cứng. Có thể sẽ rất chậm do phải sync data cho cả chương trình khác.</a:t>
            </a:r>
            <a:r>
              <a:rPr lang="en-US" dirty="0">
                <a:effectLst/>
              </a:rPr>
              <a:t> Do </a:t>
            </a:r>
            <a:r>
              <a:rPr lang="en-US" dirty="0" err="1">
                <a:effectLst/>
              </a:rPr>
              <a:t>đó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hàm</a:t>
            </a:r>
            <a:r>
              <a:rPr lang="en-US" baseline="0" dirty="0">
                <a:effectLst/>
              </a:rPr>
              <a:t> sync() </a:t>
            </a:r>
            <a:r>
              <a:rPr lang="en-US" baseline="0" dirty="0" err="1">
                <a:effectLst/>
              </a:rPr>
              <a:t>có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thể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gây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treo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hoặc</a:t>
            </a:r>
            <a:r>
              <a:rPr lang="en-US" baseline="0" dirty="0">
                <a:effectLst/>
              </a:rPr>
              <a:t> crash </a:t>
            </a:r>
            <a:r>
              <a:rPr lang="en-US" baseline="0" dirty="0" err="1">
                <a:effectLst/>
              </a:rPr>
              <a:t>chương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trình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gọi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nó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nếu</a:t>
            </a:r>
            <a:r>
              <a:rPr lang="en-US" baseline="0" dirty="0">
                <a:effectLst/>
              </a:rPr>
              <a:t> ở </a:t>
            </a:r>
            <a:r>
              <a:rPr lang="en-US" baseline="0" dirty="0" err="1">
                <a:effectLst/>
              </a:rPr>
              <a:t>chương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trình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khác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ghi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quá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nhiều</a:t>
            </a:r>
            <a:r>
              <a:rPr lang="en-US" baseline="0" dirty="0">
                <a:effectLst/>
              </a:rPr>
              <a:t> data </a:t>
            </a:r>
            <a:r>
              <a:rPr lang="en-US" baseline="0" dirty="0" err="1">
                <a:effectLst/>
              </a:rPr>
              <a:t>xuống</a:t>
            </a:r>
            <a:r>
              <a:rPr lang="en-US" baseline="0" dirty="0">
                <a:effectLst/>
              </a:rPr>
              <a:t> ổ </a:t>
            </a:r>
            <a:r>
              <a:rPr lang="en-US" baseline="0" dirty="0" err="1">
                <a:effectLst/>
              </a:rPr>
              <a:t>cứng</a:t>
            </a:r>
            <a:r>
              <a:rPr lang="en-US" baseline="0" dirty="0">
                <a:effectLst/>
              </a:rPr>
              <a:t>.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int </a:t>
            </a:r>
            <a:r>
              <a:rPr lang="en-US" dirty="0" err="1">
                <a:effectLst/>
              </a:rPr>
              <a:t>syncfs</a:t>
            </a:r>
            <a:r>
              <a:rPr lang="en-US" dirty="0">
                <a:effectLst/>
              </a:rPr>
              <a:t>(int fd):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Chỉ</a:t>
            </a:r>
            <a:r>
              <a:rPr lang="en-US" baseline="0" dirty="0">
                <a:effectLst/>
              </a:rPr>
              <a:t> sync cho </a:t>
            </a:r>
            <a:r>
              <a:rPr lang="en-US" baseline="0" dirty="0" err="1">
                <a:effectLst/>
              </a:rPr>
              <a:t>riêng</a:t>
            </a:r>
            <a:r>
              <a:rPr lang="en-US" baseline="0" dirty="0">
                <a:effectLst/>
              </a:rPr>
              <a:t> 1 file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Những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lưu</a:t>
            </a:r>
            <a:r>
              <a:rPr lang="en-US" baseline="0" dirty="0">
                <a:effectLst/>
              </a:rPr>
              <a:t> ý của </a:t>
            </a:r>
            <a:r>
              <a:rPr lang="en-US" baseline="0" dirty="0" err="1">
                <a:effectLst/>
              </a:rPr>
              <a:t>hàm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close()</a:t>
            </a:r>
          </a:p>
          <a:p>
            <a:pPr lvl="1"/>
            <a:r>
              <a:rPr lang="en-US" dirty="0">
                <a:effectLst/>
              </a:rPr>
              <a:t>Free file pointer</a:t>
            </a:r>
          </a:p>
          <a:p>
            <a:pPr lvl="1"/>
            <a:r>
              <a:rPr lang="vi-VN" dirty="0">
                <a:effectLst/>
              </a:rPr>
              <a:t>Sẽ sync data trước khi </a:t>
            </a:r>
            <a:r>
              <a:rPr lang="vi-VN" dirty="0" smtClean="0">
                <a:effectLst/>
              </a:rPr>
              <a:t>close </a:t>
            </a:r>
            <a:r>
              <a:rPr lang="vi-VN" dirty="0" smtClean="0">
                <a:effectLst/>
                <a:sym typeface="Wingdings" panose="05000000000000000000" pitchFamily="2" charset="2"/>
              </a:rPr>
              <a:t></a:t>
            </a:r>
            <a:endParaRPr lang="en-US" dirty="0">
              <a:effectLst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effectLst/>
              </a:rPr>
              <a:t>Xóa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hàng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chứa</a:t>
            </a:r>
            <a:r>
              <a:rPr lang="en-US" dirty="0">
                <a:effectLst/>
              </a:rPr>
              <a:t> file fd đó trong file table </a:t>
            </a:r>
            <a:r>
              <a:rPr lang="en-US" dirty="0" err="1">
                <a:effectLst/>
              </a:rPr>
              <a:t>của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process</a:t>
            </a:r>
            <a:r>
              <a:rPr lang="vi-VN" dirty="0" smtClean="0">
                <a:effectLst/>
              </a:rPr>
              <a:t> </a:t>
            </a:r>
            <a:r>
              <a:rPr lang="vi-VN" dirty="0" smtClean="0">
                <a:effectLst/>
                <a:sym typeface="Wingdings" panose="05000000000000000000" pitchFamily="2" charset="2"/>
              </a:rPr>
              <a:t></a:t>
            </a:r>
            <a:endParaRPr lang="en-US" dirty="0">
              <a:effectLst/>
            </a:endParaRPr>
          </a:p>
          <a:p>
            <a:pPr lvl="1"/>
            <a:r>
              <a:rPr lang="en-US" dirty="0" err="1">
                <a:effectLst/>
              </a:rPr>
              <a:t>Khi</a:t>
            </a:r>
            <a:r>
              <a:rPr lang="en-US" dirty="0">
                <a:effectLst/>
              </a:rPr>
              <a:t> process </a:t>
            </a:r>
            <a:r>
              <a:rPr lang="en-US" dirty="0" err="1">
                <a:effectLst/>
              </a:rPr>
              <a:t>kết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thúc</a:t>
            </a:r>
            <a:r>
              <a:rPr lang="en-US" dirty="0">
                <a:effectLst/>
              </a:rPr>
              <a:t> thông qua </a:t>
            </a:r>
            <a:r>
              <a:rPr lang="en-US" dirty="0" err="1">
                <a:effectLst/>
              </a:rPr>
              <a:t>gọi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hàm</a:t>
            </a:r>
            <a:r>
              <a:rPr lang="en-US" dirty="0">
                <a:effectLst/>
              </a:rPr>
              <a:t> exit() </a:t>
            </a:r>
            <a:r>
              <a:rPr lang="en-US" dirty="0" err="1">
                <a:effectLst/>
              </a:rPr>
              <a:t>hoặc</a:t>
            </a:r>
            <a:r>
              <a:rPr lang="en-US" dirty="0">
                <a:effectLst/>
              </a:rPr>
              <a:t> return trong </a:t>
            </a:r>
            <a:r>
              <a:rPr lang="en-US" dirty="0" err="1">
                <a:effectLst/>
              </a:rPr>
              <a:t>hàm</a:t>
            </a:r>
            <a:r>
              <a:rPr lang="en-US" dirty="0">
                <a:effectLst/>
              </a:rPr>
              <a:t> main </a:t>
            </a:r>
            <a:r>
              <a:rPr lang="en-US" dirty="0" err="1">
                <a:effectLst/>
              </a:rPr>
              <a:t>thì</a:t>
            </a:r>
            <a:r>
              <a:rPr lang="en-US" dirty="0">
                <a:effectLst/>
              </a:rPr>
              <a:t> OS sẽ </a:t>
            </a:r>
            <a:r>
              <a:rPr lang="en-US" dirty="0" err="1">
                <a:effectLst/>
              </a:rPr>
              <a:t>tự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động</a:t>
            </a:r>
            <a:r>
              <a:rPr lang="en-US" dirty="0">
                <a:effectLst/>
              </a:rPr>
              <a:t> call close() cho </a:t>
            </a:r>
            <a:r>
              <a:rPr lang="en-US" dirty="0" err="1">
                <a:effectLst/>
              </a:rPr>
              <a:t>tất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cả</a:t>
            </a:r>
            <a:r>
              <a:rPr lang="en-US" dirty="0">
                <a:effectLst/>
              </a:rPr>
              <a:t> các file có trong file table</a:t>
            </a:r>
            <a:r>
              <a:rPr lang="en-US" dirty="0" smtClean="0">
                <a:effectLst/>
              </a:rPr>
              <a:t>.</a:t>
            </a:r>
            <a:r>
              <a:rPr lang="vi-VN" dirty="0" smtClean="0">
                <a:effectLst/>
              </a:rPr>
              <a:t> </a:t>
            </a:r>
            <a:r>
              <a:rPr lang="vi-VN" dirty="0" smtClean="0">
                <a:effectLst/>
                <a:sym typeface="Wingdings" panose="05000000000000000000" pitchFamily="2" charset="2"/>
              </a:rPr>
              <a:t> </a:t>
            </a:r>
            <a:endParaRPr lang="en-US" dirty="0">
              <a:effectLst/>
            </a:endParaRPr>
          </a:p>
          <a:p>
            <a:pPr lvl="0"/>
            <a:r>
              <a:rPr lang="en-US" dirty="0" err="1">
                <a:effectLst/>
              </a:rPr>
              <a:t>Phần</a:t>
            </a:r>
            <a:r>
              <a:rPr lang="en-US" baseline="0" dirty="0">
                <a:effectLst/>
              </a:rPr>
              <a:t> implement file system trong source code của kernel </a:t>
            </a:r>
            <a:r>
              <a:rPr lang="en-US" baseline="0" dirty="0" err="1">
                <a:effectLst/>
              </a:rPr>
              <a:t>rất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phức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tạp</a:t>
            </a:r>
            <a:r>
              <a:rPr lang="en-US" baseline="0" dirty="0">
                <a:effectLst/>
              </a:rPr>
              <a:t>.</a:t>
            </a:r>
          </a:p>
          <a:p>
            <a:pPr lvl="0"/>
            <a:r>
              <a:rPr lang="en-US" baseline="0" dirty="0" err="1">
                <a:effectLst/>
              </a:rPr>
              <a:t>Ví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dụ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đọc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ghi</a:t>
            </a:r>
            <a:r>
              <a:rPr lang="en-US" baseline="0" dirty="0">
                <a:effectLst/>
              </a:rPr>
              <a:t> 1 file </a:t>
            </a:r>
            <a:r>
              <a:rPr lang="en-US" baseline="0" dirty="0" err="1">
                <a:effectLst/>
              </a:rPr>
              <a:t>đơn</a:t>
            </a:r>
            <a:r>
              <a:rPr lang="en-US" baseline="0" dirty="0">
                <a:effectLst/>
              </a:rPr>
              <a:t> </a:t>
            </a:r>
            <a:r>
              <a:rPr lang="en-US" baseline="0" dirty="0" err="1">
                <a:effectLst/>
              </a:rPr>
              <a:t>giản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9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Vẽ bảng file table cho mọi người xem</a:t>
            </a:r>
            <a:endParaRPr lang="en-US" dirty="0"/>
          </a:p>
          <a:p>
            <a:r>
              <a:rPr lang="en-US" dirty="0"/>
              <a:t>source code: </a:t>
            </a:r>
            <a:r>
              <a:rPr lang="en-US" dirty="0" err="1"/>
              <a:t>task_struct</a:t>
            </a:r>
            <a:r>
              <a:rPr lang="en-US" dirty="0"/>
              <a:t>-&gt;files-&gt;</a:t>
            </a:r>
            <a:r>
              <a:rPr lang="en-US" dirty="0" err="1"/>
              <a:t>fdtable</a:t>
            </a:r>
            <a:endParaRPr lang="en-US" dirty="0"/>
          </a:p>
          <a:p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của </a:t>
            </a:r>
            <a:r>
              <a:rPr lang="en-US" b="1" dirty="0"/>
              <a:t>file fd</a:t>
            </a:r>
          </a:p>
          <a:p>
            <a:r>
              <a:rPr lang="en-US" dirty="0" smtClean="0"/>
              <a:t>	</a:t>
            </a:r>
            <a:r>
              <a:rPr lang="vi-VN" dirty="0" smtClean="0"/>
              <a:t>Là số </a:t>
            </a:r>
            <a:r>
              <a:rPr lang="vi-VN" b="1" dirty="0" smtClean="0"/>
              <a:t>nguyên dương</a:t>
            </a:r>
            <a:endParaRPr lang="en-US" b="1" dirty="0" smtClean="0"/>
          </a:p>
          <a:p>
            <a:r>
              <a:rPr lang="en-US" dirty="0" smtClean="0"/>
              <a:t>	</a:t>
            </a:r>
            <a:r>
              <a:rPr lang="vi-VN" dirty="0" smtClean="0"/>
              <a:t>Là số </a:t>
            </a:r>
            <a:r>
              <a:rPr lang="vi-VN" b="1" dirty="0" smtClean="0"/>
              <a:t>nguyên dương </a:t>
            </a:r>
            <a:r>
              <a:rPr lang="vi-VN" dirty="0" smtClean="0"/>
              <a:t>đại diện cho </a:t>
            </a:r>
            <a:r>
              <a:rPr lang="vi-VN" b="1" dirty="0" smtClean="0"/>
              <a:t>index</a:t>
            </a:r>
            <a:r>
              <a:rPr lang="vi-VN" dirty="0" smtClean="0"/>
              <a:t> của </a:t>
            </a:r>
            <a:r>
              <a:rPr lang="vi-VN" b="1" dirty="0" smtClean="0"/>
              <a:t>file pointer </a:t>
            </a:r>
            <a:r>
              <a:rPr lang="vi-VN" dirty="0" smtClean="0"/>
              <a:t>trong bảng </a:t>
            </a:r>
            <a:r>
              <a:rPr lang="vi-VN" b="1" dirty="0" smtClean="0"/>
              <a:t>file table của process</a:t>
            </a:r>
            <a:endParaRPr lang="en-US" b="1" dirty="0" smtClean="0"/>
          </a:p>
          <a:p>
            <a:r>
              <a:rPr lang="en-US" dirty="0"/>
              <a:t>	</a:t>
            </a:r>
            <a:r>
              <a:rPr lang="vi-VN" b="1" dirty="0"/>
              <a:t>STDIN, STDOUT và STDERR chính là 3 file fd được tạo ra khi process start</a:t>
            </a:r>
            <a:r>
              <a:rPr lang="vi-VN" dirty="0"/>
              <a:t>. </a:t>
            </a:r>
            <a:r>
              <a:rPr lang="vi-VN" b="1" dirty="0"/>
              <a:t>Chúng chiếm 3 vị trí đầu tiên trong bảng file table.</a:t>
            </a:r>
            <a:endParaRPr lang="en-US" b="1" dirty="0"/>
          </a:p>
          <a:p>
            <a:r>
              <a:rPr lang="en-US" dirty="0"/>
              <a:t>	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"&gt;"?</a:t>
            </a:r>
          </a:p>
          <a:p>
            <a:r>
              <a:rPr lang="en-US" dirty="0"/>
              <a:t>		</a:t>
            </a:r>
            <a:r>
              <a:rPr lang="vi-VN" b="1" dirty="0"/>
              <a:t>Tác dụng thay đổi các file STDIN, STDOUT, STDERR của process khi nó được tạo ra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0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Đa số các thiết bị lưu trữ được thiết kế theo dạng block</a:t>
            </a:r>
            <a:r>
              <a:rPr lang="vi-VN" dirty="0"/>
              <a:t>. Mỗi lần đọc thông thường sẽ đọc </a:t>
            </a:r>
            <a:r>
              <a:rPr lang="vi-VN" b="1" dirty="0"/>
              <a:t>được ít nhất là</a:t>
            </a:r>
            <a:r>
              <a:rPr lang="vi-VN" dirty="0"/>
              <a:t> </a:t>
            </a:r>
            <a:r>
              <a:rPr lang="vi-VN" b="1" dirty="0"/>
              <a:t>512 bytes</a:t>
            </a:r>
            <a:r>
              <a:rPr lang="vi-VN" dirty="0"/>
              <a:t>. Nguyên nhân là do </a:t>
            </a:r>
            <a:r>
              <a:rPr lang="vi-VN" b="1" dirty="0"/>
              <a:t>giới hạn của phần cứng</a:t>
            </a:r>
            <a:r>
              <a:rPr lang="vi-VN" dirty="0"/>
              <a:t>, ví dụ </a:t>
            </a:r>
            <a:r>
              <a:rPr lang="vi-VN" b="1" dirty="0"/>
              <a:t>ổ cứng cần 1 khoảng thời gian tối thiểu để quay và dừng lại</a:t>
            </a:r>
            <a:r>
              <a:rPr lang="vi-VN" dirty="0"/>
              <a:t>, do đó </a:t>
            </a:r>
            <a:r>
              <a:rPr lang="vi-VN" b="0" dirty="0"/>
              <a:t>nó</a:t>
            </a:r>
            <a:r>
              <a:rPr lang="vi-VN" dirty="0"/>
              <a:t> </a:t>
            </a:r>
            <a:r>
              <a:rPr lang="vi-VN" b="1" dirty="0"/>
              <a:t>không thể đọc</a:t>
            </a:r>
            <a:r>
              <a:rPr lang="vi-VN" dirty="0"/>
              <a:t> chỉ </a:t>
            </a:r>
            <a:r>
              <a:rPr lang="vi-VN" b="1" dirty="0"/>
              <a:t>1 byte </a:t>
            </a:r>
            <a:r>
              <a:rPr lang="vi-VN" dirty="0"/>
              <a:t>mà thông thường sẽ đọc được </a:t>
            </a:r>
            <a:r>
              <a:rPr lang="vi-VN" b="1" dirty="0"/>
              <a:t>tối thiểu 512 bytes.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01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1 </a:t>
            </a:r>
            <a:r>
              <a:rPr lang="en-US" dirty="0" err="1"/>
              <a:t>phần</a:t>
            </a:r>
            <a:r>
              <a:rPr lang="en-US" dirty="0"/>
              <a:t> RAM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cached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file.</a:t>
            </a:r>
          </a:p>
          <a:p>
            <a:pPr lvl="1"/>
            <a:r>
              <a:rPr lang="vi-VN" dirty="0"/>
              <a:t>Việc đọc ghi dữ liệu trong file thông thường sẽ đọc qua cached để </a:t>
            </a:r>
            <a:r>
              <a:rPr lang="vi-VN" b="1" dirty="0"/>
              <a:t>tăng tốc độ của hệ thống</a:t>
            </a:r>
            <a:r>
              <a:rPr lang="vi-VN" dirty="0"/>
              <a:t>. Ví dụ như việc </a:t>
            </a:r>
            <a:r>
              <a:rPr lang="vi-VN" b="1" dirty="0"/>
              <a:t>đọc 1 byte từ ổ cứng</a:t>
            </a:r>
            <a:r>
              <a:rPr lang="vi-VN" dirty="0"/>
              <a:t>, khi đó </a:t>
            </a:r>
            <a:r>
              <a:rPr lang="vi-VN" b="1" dirty="0"/>
              <a:t>OS vẫn đọc cả sector là 512 bytes</a:t>
            </a:r>
            <a:r>
              <a:rPr lang="vi-VN" dirty="0"/>
              <a:t>, tuy nhiên </a:t>
            </a:r>
            <a:r>
              <a:rPr lang="vi-VN" b="1" dirty="0"/>
              <a:t>chỉ lấy 1 bytes trả về cho app</a:t>
            </a:r>
            <a:r>
              <a:rPr lang="vi-VN" dirty="0"/>
              <a:t>, </a:t>
            </a:r>
            <a:r>
              <a:rPr lang="vi-VN" b="1" dirty="0"/>
              <a:t>số bytes còn lại được cất vào cached nằm trong RAM</a:t>
            </a:r>
            <a:r>
              <a:rPr lang="vi-VN" dirty="0"/>
              <a:t>, </a:t>
            </a:r>
            <a:r>
              <a:rPr lang="vi-VN" b="1" dirty="0"/>
              <a:t>nếu lần đọc sau đọc data nằm trong sector đó thì sẽ lấy từ cached mà không cần đọc xuống ổ cứng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vi-VN" dirty="0"/>
              <a:t>Việc ghi data thông thường OS sẽ ghi vào cached nằm trong RAM. Trong </a:t>
            </a:r>
            <a:r>
              <a:rPr lang="vi-VN" b="1" dirty="0"/>
              <a:t>kernel có 1 thread</a:t>
            </a:r>
            <a:r>
              <a:rPr lang="vi-VN" dirty="0"/>
              <a:t> sẽ </a:t>
            </a:r>
            <a:r>
              <a:rPr lang="vi-VN" b="1" dirty="0"/>
              <a:t>định kỳ flush tất cả các cached và file</a:t>
            </a:r>
            <a:r>
              <a:rPr lang="vi-VN" dirty="0"/>
              <a:t>. Ngoài ra có thể sử dụng </a:t>
            </a:r>
            <a:r>
              <a:rPr lang="vi-VN" b="1" dirty="0"/>
              <a:t>hàm</a:t>
            </a:r>
            <a:r>
              <a:rPr lang="vi-VN" dirty="0"/>
              <a:t> </a:t>
            </a:r>
            <a:r>
              <a:rPr lang="vi-VN" b="1" dirty="0"/>
              <a:t>sync() </a:t>
            </a:r>
            <a:r>
              <a:rPr lang="vi-VN" dirty="0"/>
              <a:t>hoặc </a:t>
            </a:r>
            <a:r>
              <a:rPr lang="vi-VN" b="1" dirty="0"/>
              <a:t>setting flag lúc open file </a:t>
            </a:r>
            <a:r>
              <a:rPr lang="vi-VN" dirty="0"/>
              <a:t>để </a:t>
            </a:r>
            <a:r>
              <a:rPr lang="vi-VN" b="1" dirty="0"/>
              <a:t>chỉ định không sử dụng cached.</a:t>
            </a:r>
            <a:endParaRPr lang="en-US" b="1" dirty="0"/>
          </a:p>
          <a:p>
            <a:pPr lvl="1"/>
            <a:r>
              <a:rPr lang="en-US" dirty="0" err="1"/>
              <a:t>wakeup_flusher_threads</a:t>
            </a:r>
            <a:r>
              <a:rPr lang="en-US" dirty="0"/>
              <a:t>: kernel 4.14</a:t>
            </a:r>
          </a:p>
          <a:p>
            <a:pPr lvl="0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b="1" dirty="0" err="1"/>
              <a:t>khi</a:t>
            </a:r>
            <a:r>
              <a:rPr lang="en-US" dirty="0"/>
              <a:t> </a:t>
            </a:r>
            <a:r>
              <a:rPr lang="en-US" b="1" dirty="0"/>
              <a:t>open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1 </a:t>
            </a:r>
            <a:r>
              <a:rPr lang="en-US" b="1" dirty="0" err="1"/>
              <a:t>inode</a:t>
            </a:r>
            <a:r>
              <a:rPr lang="en-US" dirty="0"/>
              <a:t>.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b="1" dirty="0" err="1"/>
              <a:t>inode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trỏ</a:t>
            </a:r>
            <a:r>
              <a:rPr lang="en-US" b="1" dirty="0"/>
              <a:t> </a:t>
            </a:r>
            <a:r>
              <a:rPr lang="en-US" b="1" dirty="0" err="1"/>
              <a:t>đến</a:t>
            </a:r>
            <a:r>
              <a:rPr lang="en-US" b="1" dirty="0"/>
              <a:t>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cached </a:t>
            </a:r>
            <a:r>
              <a:rPr lang="en-US" b="1" dirty="0" err="1"/>
              <a:t>riêng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nó</a:t>
            </a:r>
            <a:endParaRPr lang="en-US" b="1" dirty="0"/>
          </a:p>
          <a:p>
            <a:pPr lvl="1"/>
            <a:r>
              <a:rPr lang="en-US" dirty="0"/>
              <a:t>Source</a:t>
            </a:r>
            <a:r>
              <a:rPr lang="en-US" baseline="0" dirty="0"/>
              <a:t> code: </a:t>
            </a:r>
            <a:r>
              <a:rPr lang="en-US" baseline="0" dirty="0" err="1"/>
              <a:t>s</a:t>
            </a:r>
            <a:r>
              <a:rPr lang="en-US" b="1" baseline="0" dirty="0" err="1"/>
              <a:t>truct</a:t>
            </a:r>
            <a:r>
              <a:rPr lang="en-US" b="1" baseline="0" dirty="0"/>
              <a:t> </a:t>
            </a:r>
            <a:r>
              <a:rPr lang="en-US" b="1" baseline="0" dirty="0" err="1"/>
              <a:t>inode</a:t>
            </a:r>
            <a:r>
              <a:rPr lang="en-US" b="1" baseline="0" dirty="0"/>
              <a:t> -&gt; mapping</a:t>
            </a:r>
          </a:p>
          <a:p>
            <a:pPr lvl="0"/>
            <a:r>
              <a:rPr lang="vi-VN" dirty="0"/>
              <a:t>Bộ nhớ cached của 1 file có thể được flush theo cách chủ động hoặc bị động</a:t>
            </a:r>
            <a:endParaRPr lang="en-US" dirty="0"/>
          </a:p>
          <a:p>
            <a:pPr lvl="1"/>
            <a:r>
              <a:rPr lang="en-US" b="1" dirty="0" err="1"/>
              <a:t>Chủ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flush cached: </a:t>
            </a:r>
            <a:r>
              <a:rPr lang="en-US" b="1" dirty="0" err="1"/>
              <a:t>gọi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fflush</a:t>
            </a:r>
            <a:r>
              <a:rPr lang="en-US" b="1" dirty="0"/>
              <a:t>, sync(), </a:t>
            </a:r>
            <a:r>
              <a:rPr lang="en-US" b="1" dirty="0" err="1"/>
              <a:t>fsync</a:t>
            </a:r>
            <a:r>
              <a:rPr lang="en-US" b="1" dirty="0"/>
              <a:t>() </a:t>
            </a:r>
            <a:r>
              <a:rPr lang="en-US" b="1" dirty="0" err="1"/>
              <a:t>hoặc</a:t>
            </a:r>
            <a:r>
              <a:rPr lang="en-US" b="1" dirty="0"/>
              <a:t> close() file</a:t>
            </a:r>
          </a:p>
          <a:p>
            <a:pPr lvl="1"/>
            <a:r>
              <a:rPr lang="vi-VN" dirty="0"/>
              <a:t>Bị động flush cached: </a:t>
            </a:r>
            <a:r>
              <a:rPr lang="vi-VN" b="1" dirty="0"/>
              <a:t>Process</a:t>
            </a:r>
            <a:r>
              <a:rPr lang="vi-VN" dirty="0"/>
              <a:t> </a:t>
            </a:r>
            <a:r>
              <a:rPr lang="vi-VN" b="1" dirty="0"/>
              <a:t>kết thúc </a:t>
            </a:r>
            <a:r>
              <a:rPr lang="vi-VN" dirty="0"/>
              <a:t>bằng hàm </a:t>
            </a:r>
            <a:r>
              <a:rPr lang="vi-VN" b="1" dirty="0"/>
              <a:t>exit</a:t>
            </a:r>
            <a:r>
              <a:rPr lang="vi-VN" dirty="0"/>
              <a:t> hoặc câu lệnh </a:t>
            </a:r>
            <a:r>
              <a:rPr lang="vi-VN" b="1" dirty="0"/>
              <a:t>return</a:t>
            </a:r>
            <a:r>
              <a:rPr lang="vi-VN" dirty="0"/>
              <a:t> hoặc được </a:t>
            </a:r>
            <a:r>
              <a:rPr lang="vi-VN" b="1" dirty="0"/>
              <a:t>kernel thread flush cached.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78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01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asynchronous read/write</a:t>
            </a:r>
            <a:r>
              <a:rPr lang="en-US" dirty="0"/>
              <a:t>.</a:t>
            </a:r>
          </a:p>
          <a:p>
            <a:pPr lvl="1"/>
            <a:r>
              <a:rPr lang="vi-VN" dirty="0"/>
              <a:t>Các </a:t>
            </a:r>
            <a:r>
              <a:rPr lang="vi-VN" b="1" dirty="0"/>
              <a:t>hàm asynchronous</a:t>
            </a:r>
            <a:r>
              <a:rPr lang="vi-VN" dirty="0"/>
              <a:t> sẽ </a:t>
            </a:r>
            <a:r>
              <a:rPr lang="vi-VN" b="1" dirty="0"/>
              <a:t>tạo</a:t>
            </a:r>
            <a:r>
              <a:rPr lang="vi-VN" dirty="0"/>
              <a:t> ra </a:t>
            </a:r>
            <a:r>
              <a:rPr lang="vi-VN" b="1" dirty="0"/>
              <a:t>1 request đọc/ghi xuống driver</a:t>
            </a:r>
            <a:r>
              <a:rPr lang="vi-VN" dirty="0"/>
              <a:t>. Sau đó </a:t>
            </a:r>
            <a:r>
              <a:rPr lang="vi-VN" b="1" dirty="0"/>
              <a:t>chương trình gọi nó sẽ không bị block mà chạy tiếp được câu lệnh bên dưới</a:t>
            </a:r>
            <a:r>
              <a:rPr lang="vi-VN" dirty="0"/>
              <a:t>. </a:t>
            </a:r>
            <a:r>
              <a:rPr lang="vi-VN" b="1" dirty="0"/>
              <a:t>Driver</a:t>
            </a:r>
            <a:r>
              <a:rPr lang="vi-VN" dirty="0"/>
              <a:t> sẽ </a:t>
            </a:r>
            <a:r>
              <a:rPr lang="vi-VN" b="1" dirty="0"/>
              <a:t>tự đọc data từ ổ cứng</a:t>
            </a:r>
            <a:r>
              <a:rPr lang="vi-VN" dirty="0"/>
              <a:t>, đến </a:t>
            </a:r>
            <a:r>
              <a:rPr lang="vi-VN" b="1" dirty="0"/>
              <a:t>khi đọc đủ số byte thì nó sẽ update status vào biến aio_erro</a:t>
            </a:r>
            <a:r>
              <a:rPr lang="vi-VN" b="1" i="1" dirty="0"/>
              <a:t>r</a:t>
            </a:r>
            <a:r>
              <a:rPr lang="vi-VN" dirty="0"/>
              <a:t> cho </a:t>
            </a:r>
            <a:r>
              <a:rPr lang="vi-VN" b="1" dirty="0"/>
              <a:t>application</a:t>
            </a:r>
            <a:r>
              <a:rPr lang="vi-VN" dirty="0"/>
              <a:t> </a:t>
            </a:r>
            <a:r>
              <a:rPr lang="vi-VN" b="1" dirty="0"/>
              <a:t>biết</a:t>
            </a:r>
            <a:r>
              <a:rPr lang="vi-VN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Nằm</a:t>
            </a:r>
            <a:r>
              <a:rPr lang="en-US" baseline="0" dirty="0"/>
              <a:t> trong </a:t>
            </a:r>
            <a:r>
              <a:rPr lang="en-US" b="1" baseline="0" dirty="0"/>
              <a:t>header</a:t>
            </a:r>
            <a:r>
              <a:rPr lang="en-US" b="1" dirty="0"/>
              <a:t> &lt;sys/</a:t>
            </a:r>
            <a:r>
              <a:rPr lang="en-US" b="1" dirty="0" err="1"/>
              <a:t>stat.h</a:t>
            </a:r>
            <a:r>
              <a:rPr lang="en-US" b="1" dirty="0"/>
              <a:t>&gt;</a:t>
            </a:r>
          </a:p>
          <a:p>
            <a:r>
              <a:rPr lang="en-US" dirty="0" err="1"/>
              <a:t>Mô</a:t>
            </a:r>
            <a:r>
              <a:rPr lang="en-US" baseline="0" dirty="0"/>
              <a:t> </a:t>
            </a:r>
            <a:r>
              <a:rPr lang="en-US" baseline="0" dirty="0" err="1"/>
              <a:t>tả</a:t>
            </a:r>
            <a:r>
              <a:rPr lang="en-US" baseline="0" dirty="0"/>
              <a:t> </a:t>
            </a:r>
            <a:r>
              <a:rPr lang="en-US" baseline="0" dirty="0" err="1"/>
              <a:t>struct</a:t>
            </a:r>
            <a:r>
              <a:rPr lang="en-US" baseline="0" dirty="0"/>
              <a:t> stat.</a:t>
            </a:r>
          </a:p>
          <a:p>
            <a:r>
              <a:rPr lang="en-US" dirty="0"/>
              <a:t>example code</a:t>
            </a:r>
          </a:p>
          <a:p>
            <a:endParaRPr lang="en-US" dirty="0"/>
          </a:p>
          <a:p>
            <a:r>
              <a:rPr lang="en-US" dirty="0" err="1"/>
              <a:t>Lưu</a:t>
            </a:r>
            <a:r>
              <a:rPr lang="en-US" baseline="0" dirty="0"/>
              <a:t> ý của </a:t>
            </a:r>
            <a:r>
              <a:rPr lang="en-US" baseline="0" dirty="0" err="1"/>
              <a:t>hàm</a:t>
            </a:r>
            <a:r>
              <a:rPr lang="en-US" baseline="0" dirty="0"/>
              <a:t> </a:t>
            </a:r>
            <a:r>
              <a:rPr lang="en-US" b="1" baseline="0" dirty="0"/>
              <a:t>link()</a:t>
            </a:r>
          </a:p>
          <a:p>
            <a:pPr lvl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b="1" dirty="0"/>
              <a:t>hard link </a:t>
            </a:r>
            <a:r>
              <a:rPr lang="en-US" dirty="0"/>
              <a:t>mới cho </a:t>
            </a:r>
            <a:r>
              <a:rPr lang="en-US" b="1" dirty="0"/>
              <a:t>file</a:t>
            </a:r>
          </a:p>
          <a:p>
            <a:pPr lvl="1"/>
            <a:r>
              <a:rPr lang="en-US" b="1" dirty="0"/>
              <a:t>1 file </a:t>
            </a:r>
            <a:r>
              <a:rPr lang="en-US" b="1" dirty="0" err="1"/>
              <a:t>nằm</a:t>
            </a:r>
            <a:r>
              <a:rPr lang="en-US" b="1" dirty="0"/>
              <a:t> trên ổ </a:t>
            </a:r>
            <a:r>
              <a:rPr lang="en-US" b="1" dirty="0" err="1"/>
              <a:t>cứng</a:t>
            </a:r>
            <a:r>
              <a:rPr lang="en-US" b="1" dirty="0"/>
              <a:t> có thể có </a:t>
            </a:r>
            <a:r>
              <a:rPr lang="en-US" b="1" dirty="0" err="1"/>
              <a:t>nhiều</a:t>
            </a:r>
            <a:r>
              <a:rPr lang="en-US" b="1" dirty="0"/>
              <a:t> </a:t>
            </a:r>
            <a:r>
              <a:rPr lang="en-US" b="1" dirty="0" err="1"/>
              <a:t>hardlink</a:t>
            </a:r>
            <a:r>
              <a:rPr lang="en-US" b="1" dirty="0"/>
              <a:t>.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các </a:t>
            </a:r>
            <a:r>
              <a:rPr lang="en-US" b="1" dirty="0" err="1"/>
              <a:t>hardlink</a:t>
            </a:r>
            <a:r>
              <a:rPr lang="en-US" b="1" dirty="0"/>
              <a:t>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xóa</a:t>
            </a:r>
            <a:r>
              <a:rPr lang="en-US" b="1" dirty="0"/>
              <a:t> </a:t>
            </a:r>
            <a:r>
              <a:rPr lang="en-US" b="1" dirty="0" err="1"/>
              <a:t>thì</a:t>
            </a:r>
            <a:r>
              <a:rPr lang="en-US" b="1" dirty="0"/>
              <a:t> file mới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xóa</a:t>
            </a:r>
            <a:r>
              <a:rPr lang="en-US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32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7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1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200" y="1743789"/>
            <a:ext cx="5334000" cy="678021"/>
          </a:xfrm>
        </p:spPr>
        <p:txBody>
          <a:bodyPr>
            <a:noAutofit/>
          </a:bodyPr>
          <a:lstStyle>
            <a:lvl1pPr algn="ctr">
              <a:defRPr sz="3600">
                <a:solidFill>
                  <a:srgbClr val="FF66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200" y="2571750"/>
            <a:ext cx="5334000" cy="434975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99CC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BE28-58BC-4486-9A8E-6C1F0E326EA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8557" y="4767263"/>
            <a:ext cx="4489063" cy="273844"/>
          </a:xfrm>
        </p:spPr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6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0857"/>
            <a:ext cx="8229600" cy="372376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B6E5-7AA4-4C0D-BF97-BDC69083DBC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B4B-2F94-4F11-9AD4-28D0EBD2523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5478-161F-4B28-93E5-DE9BF6B2D5E2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222"/>
            <a:ext cx="6611510" cy="5406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8055-F1C9-4AC4-B9E3-476EF82AD4CC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9E8B6-A1D4-4191-8D54-A8260B6A1972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C1980-AF69-46D2-A9FE-14E6E6C939BE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5"/>
            <a:ext cx="5111750" cy="351829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3C03-0194-466F-B287-AA772F5566B9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938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78023"/>
            <a:ext cx="5486400" cy="29609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52282"/>
            <a:ext cx="5486400" cy="845073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F56F-D32E-44F3-A5D6-9F4533FAF9B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C3-1882-4E84-9C82-23BA74B5200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1917-4DD8-41D3-93A0-974B9DFBBCB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2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1887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9C729-EC9D-4075-8A00-DCB3B3221814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9245" y="4767263"/>
            <a:ext cx="3948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file trong Linux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Lưu</a:t>
            </a:r>
            <a:r>
              <a:rPr lang="en-US" dirty="0"/>
              <a:t> An </a:t>
            </a:r>
            <a:r>
              <a:rPr lang="en-US" dirty="0" err="1"/>
              <a:t>Phú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tin</a:t>
            </a:r>
          </a:p>
          <a:p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file</a:t>
            </a:r>
          </a:p>
          <a:p>
            <a:r>
              <a:rPr lang="vi-VN" dirty="0"/>
              <a:t>Các hàm tương tác với file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5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Là </a:t>
            </a:r>
            <a:r>
              <a:rPr lang="vi-VN" b="1" dirty="0"/>
              <a:t>instance</a:t>
            </a:r>
            <a:r>
              <a:rPr lang="vi-VN" dirty="0"/>
              <a:t> của một đối tượng nào đó. Ví dụ </a:t>
            </a:r>
            <a:r>
              <a:rPr lang="vi-VN" b="1" dirty="0"/>
              <a:t>process</a:t>
            </a:r>
            <a:r>
              <a:rPr lang="vi-VN" dirty="0"/>
              <a:t>, </a:t>
            </a:r>
            <a:r>
              <a:rPr lang="vi-VN" b="1" dirty="0"/>
              <a:t>device</a:t>
            </a:r>
            <a:r>
              <a:rPr lang="vi-VN" dirty="0"/>
              <a:t>, </a:t>
            </a:r>
            <a:r>
              <a:rPr lang="vi-VN" b="1" dirty="0"/>
              <a:t>data</a:t>
            </a:r>
            <a:r>
              <a:rPr lang="vi-VN" dirty="0"/>
              <a:t>.</a:t>
            </a:r>
            <a:endParaRPr lang="en-US" dirty="0"/>
          </a:p>
          <a:p>
            <a:r>
              <a:rPr lang="en-US" b="1" dirty="0"/>
              <a:t>Linux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mọi thứ thông qua file.</a:t>
            </a:r>
          </a:p>
          <a:p>
            <a:pPr lvl="1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lấy</a:t>
            </a:r>
            <a:r>
              <a:rPr lang="en-US" b="1" dirty="0"/>
              <a:t> qua file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b="1" dirty="0"/>
              <a:t>request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 qua file</a:t>
            </a:r>
            <a:r>
              <a:rPr lang="en-US" dirty="0"/>
              <a:t>.</a:t>
            </a:r>
          </a:p>
          <a:p>
            <a:r>
              <a:rPr lang="en-US" b="1" dirty="0" err="1"/>
              <a:t>struct</a:t>
            </a:r>
            <a:r>
              <a:rPr lang="en-US" b="1" dirty="0"/>
              <a:t> file include/</a:t>
            </a:r>
            <a:r>
              <a:rPr lang="en-US" b="1" dirty="0" err="1"/>
              <a:t>linux</a:t>
            </a:r>
            <a:r>
              <a:rPr lang="en-US" b="1" dirty="0"/>
              <a:t>/</a:t>
            </a:r>
            <a:r>
              <a:rPr lang="en-US" b="1" dirty="0" err="1"/>
              <a:t>fs.h</a:t>
            </a:r>
            <a:endParaRPr lang="en-US" b="1" dirty="0"/>
          </a:p>
          <a:p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b="1" dirty="0"/>
              <a:t>process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có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sleep</a:t>
            </a:r>
            <a:r>
              <a:rPr lang="en-US" dirty="0"/>
              <a:t> trong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thông qua </a:t>
            </a:r>
            <a:r>
              <a:rPr lang="en-US" b="1" dirty="0"/>
              <a:t>/</a:t>
            </a:r>
            <a:r>
              <a:rPr lang="en-US" b="1" dirty="0" err="1"/>
              <a:t>proc</a:t>
            </a:r>
            <a:r>
              <a:rPr lang="en-US" b="1" dirty="0"/>
              <a:t> </a:t>
            </a:r>
            <a:r>
              <a:rPr lang="en-US" dirty="0"/>
              <a:t>folder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0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idx="1"/>
          </p:nvPr>
        </p:nvSpPr>
        <p:spPr>
          <a:xfrm>
            <a:off x="5464366" y="1076325"/>
            <a:ext cx="3222434" cy="3518298"/>
          </a:xfrm>
        </p:spPr>
        <p:txBody>
          <a:bodyPr/>
          <a:lstStyle/>
          <a:p>
            <a:r>
              <a:rPr lang="en-US" dirty="0"/>
              <a:t>Regular file</a:t>
            </a:r>
          </a:p>
          <a:p>
            <a:r>
              <a:rPr lang="en-US" dirty="0"/>
              <a:t>Directory</a:t>
            </a:r>
          </a:p>
          <a:p>
            <a:r>
              <a:rPr lang="en-US" dirty="0"/>
              <a:t>Các </a:t>
            </a:r>
            <a:r>
              <a:rPr lang="en-US" dirty="0" err="1"/>
              <a:t>loại</a:t>
            </a:r>
            <a:r>
              <a:rPr lang="en-US" dirty="0"/>
              <a:t> file </a:t>
            </a:r>
            <a:r>
              <a:rPr lang="en-US" dirty="0" err="1"/>
              <a:t>khác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tin</a:t>
            </a:r>
          </a:p>
        </p:txBody>
      </p:sp>
      <p:pic>
        <p:nvPicPr>
          <p:cNvPr id="10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093" r="1093"/>
          <a:stretch>
            <a:fillRect/>
          </a:stretch>
        </p:blipFill>
        <p:spPr>
          <a:xfrm>
            <a:off x="457199" y="1225202"/>
            <a:ext cx="4588525" cy="296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8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Quá</a:t>
            </a:r>
            <a:r>
              <a:rPr lang="en-US" dirty="0"/>
              <a:t> trình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file system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49617" y="1068636"/>
            <a:ext cx="5414508" cy="320229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7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tương tác với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723" b="372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200" dirty="0"/>
              <a:t>Các hàm đọc ghi dữ liệu trong file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Các hàm cơ bản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 </a:t>
            </a:r>
            <a:r>
              <a:rPr lang="en-US" b="1" dirty="0"/>
              <a:t>open</a:t>
            </a:r>
            <a:r>
              <a:rPr lang="en-US" dirty="0"/>
              <a:t>(const char *pathname, int flags).</a:t>
            </a:r>
          </a:p>
          <a:p>
            <a:pPr lvl="1"/>
            <a:r>
              <a:rPr lang="fr-FR" dirty="0"/>
              <a:t>int </a:t>
            </a:r>
            <a:r>
              <a:rPr lang="fr-FR" b="1" dirty="0"/>
              <a:t>close</a:t>
            </a:r>
            <a:r>
              <a:rPr lang="fr-FR" dirty="0"/>
              <a:t>(int fd).</a:t>
            </a:r>
          </a:p>
          <a:p>
            <a:pPr lvl="1"/>
            <a:r>
              <a:rPr lang="en-US" dirty="0"/>
              <a:t>ssize_t </a:t>
            </a:r>
            <a:r>
              <a:rPr lang="en-US" b="1" dirty="0"/>
              <a:t>read</a:t>
            </a:r>
            <a:r>
              <a:rPr lang="en-US" dirty="0"/>
              <a:t>(int fd, void *buf, size_t count).</a:t>
            </a:r>
          </a:p>
          <a:p>
            <a:pPr lvl="1"/>
            <a:r>
              <a:rPr lang="en-US" dirty="0"/>
              <a:t>ssize_t </a:t>
            </a:r>
            <a:r>
              <a:rPr lang="en-US" b="1" dirty="0"/>
              <a:t>write</a:t>
            </a:r>
            <a:r>
              <a:rPr lang="en-US" dirty="0"/>
              <a:t>(int fd, const void *buf, size_t count)</a:t>
            </a:r>
          </a:p>
          <a:p>
            <a:pPr lvl="1"/>
            <a:r>
              <a:rPr lang="en-US" dirty="0" err="1"/>
              <a:t>off_t</a:t>
            </a:r>
            <a:r>
              <a:rPr lang="en-US" dirty="0"/>
              <a:t> </a:t>
            </a:r>
            <a:r>
              <a:rPr lang="en-US" b="1" dirty="0" err="1"/>
              <a:t>lseek</a:t>
            </a:r>
            <a:r>
              <a:rPr lang="en-US" dirty="0"/>
              <a:t>(int fd, </a:t>
            </a:r>
            <a:r>
              <a:rPr lang="en-US" dirty="0" err="1"/>
              <a:t>off_t</a:t>
            </a:r>
            <a:r>
              <a:rPr lang="en-US" dirty="0"/>
              <a:t> offset, int whence)</a:t>
            </a:r>
          </a:p>
          <a:p>
            <a:pPr lvl="1"/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b="1" dirty="0" err="1"/>
              <a:t>sync</a:t>
            </a:r>
            <a:r>
              <a:rPr lang="fr-FR" dirty="0"/>
              <a:t>(</a:t>
            </a:r>
            <a:r>
              <a:rPr lang="fr-FR" dirty="0" err="1"/>
              <a:t>void</a:t>
            </a:r>
            <a:r>
              <a:rPr lang="fr-FR" dirty="0"/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2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133DFF-1663-F909-294B-8375DDB3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file đặc biệt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1DB8D6-1C69-7B56-3169-2DE37F859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Proc</a:t>
            </a:r>
            <a:r>
              <a:rPr lang="en-US" b="1" dirty="0"/>
              <a:t> file system.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1 process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.</a:t>
            </a:r>
          </a:p>
          <a:p>
            <a:r>
              <a:rPr lang="en-US" b="1" dirty="0"/>
              <a:t>Sys file system.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b="1" dirty="0"/>
              <a:t>dev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/>
              <a:t>ở </a:t>
            </a:r>
            <a:r>
              <a:rPr lang="en-US" b="1" dirty="0" err="1"/>
              <a:t>dạng</a:t>
            </a:r>
            <a:r>
              <a:rPr lang="en-US" b="1" dirty="0"/>
              <a:t> format </a:t>
            </a:r>
            <a:r>
              <a:rPr lang="en-US" b="1" dirty="0" err="1"/>
              <a:t>nào</a:t>
            </a:r>
            <a:r>
              <a:rPr lang="en-US" b="1" dirty="0"/>
              <a:t> </a:t>
            </a:r>
            <a:r>
              <a:rPr lang="en-US" b="1" dirty="0" err="1"/>
              <a:t>đó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FBBD621-8A53-3046-A812-A735B2B4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7C34BBE-77F0-24AB-2D6A-3A172EDC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36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003972-BFF0-F077-D42D-90A8AEAE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3722DB-6633-47E8-EED0-B057FD33E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Cấu hình cho 1 chương trình tự động chạy cùng hệ thống.</a:t>
            </a:r>
          </a:p>
          <a:p>
            <a:r>
              <a:rPr lang="en-US"/>
              <a:t>Viết 1 chương trình đọc file để liệt kê danh sách các driver đang được load.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24ABF4-8455-94C9-2BEF-1048FE73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40A24D-C733-2A84-A087-6F77CB93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2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860" b="286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2 file fd </a:t>
            </a:r>
            <a:r>
              <a:rPr lang="en-US" b="1" dirty="0" err="1"/>
              <a:t>giống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b="1" dirty="0"/>
              <a:t> </a:t>
            </a:r>
            <a:r>
              <a:rPr lang="en-US" dirty="0"/>
              <a:t>ở </a:t>
            </a:r>
            <a:r>
              <a:rPr lang="en-US" b="1" dirty="0"/>
              <a:t>2 process </a:t>
            </a:r>
            <a:r>
              <a:rPr lang="en-US" dirty="0"/>
              <a:t>có </a:t>
            </a:r>
            <a:r>
              <a:rPr lang="en-US" b="1" dirty="0" err="1"/>
              <a:t>trỏ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b="1" dirty="0"/>
              <a:t>1 file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3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838940" y="1076325"/>
            <a:ext cx="3305060" cy="3518298"/>
          </a:xfrm>
        </p:spPr>
        <p:txBody>
          <a:bodyPr/>
          <a:lstStyle/>
          <a:p>
            <a:r>
              <a:rPr lang="en-US" dirty="0"/>
              <a:t>Nếu </a:t>
            </a:r>
            <a:r>
              <a:rPr lang="en-US" b="1" dirty="0"/>
              <a:t>2 process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b="1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b="1" dirty="0"/>
              <a:t>1 file có fd bằng </a:t>
            </a:r>
            <a:r>
              <a:rPr lang="en-US" b="1" dirty="0" err="1"/>
              <a:t>nhau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chuyện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sẽ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table của process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xmlns="" id="{37823331-2932-4FB3-ABEE-1CC4A3EB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80" y="924223"/>
            <a:ext cx="4770162" cy="36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3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descriptor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include/</a:t>
            </a:r>
            <a:r>
              <a:rPr lang="en-US" b="1" dirty="0" err="1"/>
              <a:t>linux</a:t>
            </a:r>
            <a:r>
              <a:rPr lang="en-US" b="1" dirty="0"/>
              <a:t>/</a:t>
            </a:r>
            <a:r>
              <a:rPr lang="en-US" b="1" dirty="0" err="1"/>
              <a:t>fs.h</a:t>
            </a:r>
            <a:r>
              <a:rPr lang="en-US" b="1" dirty="0"/>
              <a:t>: </a:t>
            </a:r>
            <a:r>
              <a:rPr lang="en-US" b="1" dirty="0" err="1"/>
              <a:t>struct</a:t>
            </a:r>
            <a:r>
              <a:rPr lang="en-US" b="1" dirty="0"/>
              <a:t> file</a:t>
            </a:r>
          </a:p>
          <a:p>
            <a:r>
              <a:rPr lang="vi-VN" dirty="0"/>
              <a:t>Là struct chứa thông tin về file và các con trỏ trỏ đến các operation của file như read/write.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4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Các thiết bị lưu trữ đa số thuộc loại </a:t>
            </a:r>
            <a:r>
              <a:rPr lang="vi-VN" b="1" dirty="0"/>
              <a:t>block device</a:t>
            </a:r>
            <a:r>
              <a:rPr lang="en-US" dirty="0"/>
              <a:t>.</a:t>
            </a:r>
          </a:p>
          <a:p>
            <a:r>
              <a:rPr lang="vi-VN" dirty="0"/>
              <a:t>Các thiết bị block device thường quy định kích thước tối thiểu cho mỗi lần đọc.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4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Cached data </a:t>
            </a:r>
            <a:r>
              <a:rPr lang="en-US" dirty="0" err="1"/>
              <a:t>của</a:t>
            </a:r>
            <a:r>
              <a:rPr lang="en-US" dirty="0"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b="1" dirty="0" err="1"/>
              <a:t>phần</a:t>
            </a:r>
            <a:r>
              <a:rPr lang="en-US" b="1" dirty="0"/>
              <a:t> RAM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cached</a:t>
            </a:r>
            <a:r>
              <a:rPr lang="en-US" dirty="0"/>
              <a:t>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 </a:t>
            </a:r>
            <a:r>
              <a:rPr lang="en-US" b="1" dirty="0" err="1"/>
              <a:t>ghi</a:t>
            </a:r>
            <a:r>
              <a:rPr lang="en-US" b="1" dirty="0"/>
              <a:t> file</a:t>
            </a:r>
            <a:r>
              <a:rPr lang="en-US" dirty="0"/>
              <a:t>.</a:t>
            </a:r>
          </a:p>
          <a:p>
            <a:r>
              <a:rPr lang="en-US" b="1" dirty="0" err="1"/>
              <a:t>Mỗi</a:t>
            </a:r>
            <a:r>
              <a:rPr lang="en-US" b="1" dirty="0"/>
              <a:t> file </a:t>
            </a:r>
            <a:r>
              <a:rPr lang="en-US" b="1" dirty="0" err="1"/>
              <a:t>khi</a:t>
            </a:r>
            <a:r>
              <a:rPr lang="en-US" b="1" dirty="0"/>
              <a:t> open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1 </a:t>
            </a:r>
            <a:r>
              <a:rPr lang="en-US" b="1" dirty="0" err="1"/>
              <a:t>inode</a:t>
            </a:r>
            <a:r>
              <a:rPr lang="en-US" dirty="0"/>
              <a:t>. </a:t>
            </a:r>
            <a:r>
              <a:rPr lang="en-US" b="1" dirty="0" err="1"/>
              <a:t>Mỗi</a:t>
            </a:r>
            <a:r>
              <a:rPr lang="en-US" b="1" dirty="0"/>
              <a:t> </a:t>
            </a:r>
            <a:r>
              <a:rPr lang="en-US" b="1" dirty="0" err="1"/>
              <a:t>inode</a:t>
            </a:r>
            <a:r>
              <a:rPr lang="en-US" b="1" dirty="0"/>
              <a:t>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trỏ</a:t>
            </a:r>
            <a:r>
              <a:rPr lang="en-US" b="1" dirty="0"/>
              <a:t> </a:t>
            </a:r>
            <a:r>
              <a:rPr lang="en-US" b="1" dirty="0" err="1"/>
              <a:t>đến</a:t>
            </a:r>
            <a:r>
              <a:rPr lang="en-US" b="1" dirty="0"/>
              <a:t>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cached </a:t>
            </a:r>
            <a:r>
              <a:rPr lang="en-US" b="1" dirty="0" err="1"/>
              <a:t>riêng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.</a:t>
            </a:r>
          </a:p>
          <a:p>
            <a:r>
              <a:rPr lang="vi-VN" dirty="0"/>
              <a:t>Bộ nhớ cached của 1 file </a:t>
            </a:r>
            <a:r>
              <a:rPr lang="vi-VN" b="1" dirty="0"/>
              <a:t>có thể được flush theo cách chủ động hoặc bị động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73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Tự tạo 1 file text và đọc nó từ 1 vị trí bất kỳ, tất cả đều sử dụng C.</a:t>
            </a:r>
            <a:endParaRPr lang="en-US" dirty="0"/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my_cp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copy file.</a:t>
            </a:r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Các hàm </a:t>
            </a:r>
            <a:r>
              <a:rPr lang="vi-VN" b="1" dirty="0"/>
              <a:t>read/write </a:t>
            </a:r>
            <a:r>
              <a:rPr lang="vi-VN" dirty="0"/>
              <a:t>đều </a:t>
            </a:r>
            <a:r>
              <a:rPr lang="vi-VN" b="1" dirty="0"/>
              <a:t>gây</a:t>
            </a:r>
            <a:r>
              <a:rPr lang="vi-VN" dirty="0"/>
              <a:t> </a:t>
            </a:r>
            <a:r>
              <a:rPr lang="vi-VN" b="1" dirty="0"/>
              <a:t>block</a:t>
            </a:r>
            <a:r>
              <a:rPr lang="vi-VN" dirty="0"/>
              <a:t> </a:t>
            </a:r>
            <a:r>
              <a:rPr lang="vi-VN" b="1" dirty="0"/>
              <a:t>chương trình </a:t>
            </a:r>
            <a:r>
              <a:rPr lang="vi-VN" dirty="0"/>
              <a:t>cho đến khi đọc xong.</a:t>
            </a:r>
            <a:endParaRPr lang="en-US" dirty="0"/>
          </a:p>
          <a:p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khắc</a:t>
            </a:r>
            <a:r>
              <a:rPr lang="en-US" b="1" dirty="0"/>
              <a:t> </a:t>
            </a:r>
            <a:r>
              <a:rPr lang="en-US" b="1" dirty="0" err="1"/>
              <a:t>phục</a:t>
            </a:r>
            <a:endParaRPr lang="en-US" b="1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asynchronous read/write.</a:t>
            </a:r>
          </a:p>
          <a:p>
            <a:pPr lvl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b="1" dirty="0"/>
              <a:t>1 thread </a:t>
            </a:r>
            <a:r>
              <a:rPr lang="en-US" b="1" dirty="0" err="1"/>
              <a:t>mới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4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File I/O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875" y="963558"/>
            <a:ext cx="6972881" cy="320440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38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Các </a:t>
            </a:r>
            <a:r>
              <a:rPr lang="en-US" sz="3200" dirty="0" err="1"/>
              <a:t>hàm</a:t>
            </a:r>
            <a:r>
              <a:rPr lang="en-US" sz="3200" dirty="0"/>
              <a:t> </a:t>
            </a:r>
            <a:r>
              <a:rPr lang="en-US" sz="3200" dirty="0" err="1"/>
              <a:t>đọc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r>
              <a:rPr lang="en-US" sz="3200" dirty="0"/>
              <a:t> </a:t>
            </a:r>
            <a:r>
              <a:rPr lang="en-US" sz="3200" dirty="0" err="1"/>
              <a:t>thuộc</a:t>
            </a:r>
            <a:r>
              <a:rPr lang="en-US" sz="3200" dirty="0"/>
              <a:t> tính của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 </a:t>
            </a:r>
            <a:r>
              <a:rPr lang="en-US" b="1" dirty="0"/>
              <a:t>stat</a:t>
            </a:r>
            <a:r>
              <a:rPr lang="en-US" dirty="0"/>
              <a:t>(const char *restrict pathname, </a:t>
            </a:r>
            <a:r>
              <a:rPr lang="en-US" dirty="0" err="1"/>
              <a:t>struct</a:t>
            </a:r>
            <a:r>
              <a:rPr lang="en-US" dirty="0"/>
              <a:t> stat *restrict buf );</a:t>
            </a:r>
          </a:p>
          <a:p>
            <a:r>
              <a:rPr lang="fr-FR" dirty="0"/>
              <a:t>int </a:t>
            </a:r>
            <a:r>
              <a:rPr lang="fr-FR" b="1" dirty="0"/>
              <a:t>chmod</a:t>
            </a:r>
            <a:r>
              <a:rPr lang="fr-FR" dirty="0"/>
              <a:t>(const char *</a:t>
            </a:r>
            <a:r>
              <a:rPr lang="fr-FR" dirty="0" err="1"/>
              <a:t>pathname</a:t>
            </a:r>
            <a:r>
              <a:rPr lang="fr-FR" dirty="0"/>
              <a:t>, </a:t>
            </a:r>
            <a:r>
              <a:rPr lang="fr-FR" dirty="0" err="1"/>
              <a:t>mode_t</a:t>
            </a:r>
            <a:r>
              <a:rPr lang="fr-FR" dirty="0"/>
              <a:t> mode);</a:t>
            </a:r>
          </a:p>
          <a:p>
            <a:r>
              <a:rPr lang="en-US" dirty="0"/>
              <a:t>int </a:t>
            </a:r>
            <a:r>
              <a:rPr lang="en-US" b="1" dirty="0" err="1"/>
              <a:t>chown</a:t>
            </a:r>
            <a:r>
              <a:rPr lang="en-US" dirty="0"/>
              <a:t>(const char *pathname, </a:t>
            </a:r>
            <a:r>
              <a:rPr lang="en-US" dirty="0" err="1"/>
              <a:t>uid_t</a:t>
            </a:r>
            <a:r>
              <a:rPr lang="en-US" dirty="0"/>
              <a:t> owner, </a:t>
            </a:r>
            <a:r>
              <a:rPr lang="en-US" dirty="0" err="1"/>
              <a:t>gid_t</a:t>
            </a:r>
            <a:r>
              <a:rPr lang="en-US" dirty="0"/>
              <a:t> group);</a:t>
            </a:r>
          </a:p>
          <a:p>
            <a:r>
              <a:rPr lang="en-US" dirty="0"/>
              <a:t>int </a:t>
            </a:r>
            <a:r>
              <a:rPr lang="en-US" b="1" dirty="0"/>
              <a:t>link</a:t>
            </a:r>
            <a:r>
              <a:rPr lang="en-US" dirty="0"/>
              <a:t>(const char *</a:t>
            </a:r>
            <a:r>
              <a:rPr lang="en-US" dirty="0" err="1"/>
              <a:t>existingpath</a:t>
            </a:r>
            <a:r>
              <a:rPr lang="en-US" dirty="0"/>
              <a:t>, const char *</a:t>
            </a:r>
            <a:r>
              <a:rPr lang="en-US" dirty="0" err="1"/>
              <a:t>newpath</a:t>
            </a:r>
            <a:r>
              <a:rPr lang="en-US" dirty="0"/>
              <a:t>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49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hàm thao tác với thư mục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 </a:t>
            </a:r>
            <a:r>
              <a:rPr lang="fr-FR" b="1" dirty="0" err="1"/>
              <a:t>mkdir</a:t>
            </a:r>
            <a:r>
              <a:rPr lang="fr-FR" dirty="0"/>
              <a:t>(const char *</a:t>
            </a:r>
            <a:r>
              <a:rPr lang="fr-FR" dirty="0" err="1"/>
              <a:t>pathname</a:t>
            </a:r>
            <a:r>
              <a:rPr lang="fr-FR" dirty="0"/>
              <a:t>, </a:t>
            </a:r>
            <a:r>
              <a:rPr lang="fr-FR" dirty="0" err="1"/>
              <a:t>mode_t</a:t>
            </a:r>
            <a:r>
              <a:rPr lang="fr-FR" dirty="0"/>
              <a:t> mode)</a:t>
            </a:r>
          </a:p>
          <a:p>
            <a:r>
              <a:rPr lang="en-US" dirty="0"/>
              <a:t>DIR *</a:t>
            </a:r>
            <a:r>
              <a:rPr lang="en-US" b="1" dirty="0" err="1"/>
              <a:t>opendir</a:t>
            </a:r>
            <a:r>
              <a:rPr lang="en-US" dirty="0"/>
              <a:t>(const char *pathname)</a:t>
            </a:r>
          </a:p>
          <a:p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dirent</a:t>
            </a:r>
            <a:r>
              <a:rPr lang="en-US" dirty="0"/>
              <a:t> *</a:t>
            </a:r>
            <a:r>
              <a:rPr lang="en-US" b="1" dirty="0" err="1"/>
              <a:t>readdir</a:t>
            </a:r>
            <a:r>
              <a:rPr lang="en-US" dirty="0"/>
              <a:t>(DIR *</a:t>
            </a:r>
            <a:r>
              <a:rPr lang="en-US" dirty="0" err="1"/>
              <a:t>dp</a:t>
            </a:r>
            <a:r>
              <a:rPr lang="en-US" dirty="0"/>
              <a:t>)</a:t>
            </a:r>
          </a:p>
          <a:p>
            <a:r>
              <a:rPr lang="en-US" dirty="0"/>
              <a:t>int </a:t>
            </a:r>
            <a:r>
              <a:rPr lang="en-US" b="1" dirty="0" err="1"/>
              <a:t>closedir</a:t>
            </a:r>
            <a:r>
              <a:rPr lang="en-US" dirty="0"/>
              <a:t>(DIR *</a:t>
            </a:r>
            <a:r>
              <a:rPr lang="en-US" dirty="0" err="1"/>
              <a:t>dp</a:t>
            </a:r>
            <a:r>
              <a:rPr lang="en-US" dirty="0"/>
              <a:t>)</a:t>
            </a:r>
          </a:p>
          <a:p>
            <a:r>
              <a:rPr lang="en-US" dirty="0"/>
              <a:t>example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90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</a:t>
            </a:r>
            <a:endParaRPr lang="vi-V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my_ls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1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. </a:t>
            </a:r>
            <a:r>
              <a:rPr lang="en-US" dirty="0" err="1"/>
              <a:t>Thông</a:t>
            </a:r>
            <a:r>
              <a:rPr lang="en-US" dirty="0"/>
              <a:t> tin bao </a:t>
            </a:r>
            <a:r>
              <a:rPr lang="en-US" dirty="0" err="1"/>
              <a:t>gồm</a:t>
            </a:r>
            <a:r>
              <a:rPr lang="en-US" dirty="0"/>
              <a:t> size, modified time, owner, group.</a:t>
            </a:r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42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" y="2082799"/>
            <a:ext cx="5115560" cy="678021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2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Internal_Cou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Template_Internal_Course</Template>
  <TotalTime>613</TotalTime>
  <Words>1607</Words>
  <Application>Microsoft Office PowerPoint</Application>
  <PresentationFormat>On-screen Show (16:9)</PresentationFormat>
  <Paragraphs>196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Template_Internal_Course</vt:lpstr>
      <vt:lpstr>Đọc ghi file trong Linux</vt:lpstr>
      <vt:lpstr>Agenda</vt:lpstr>
      <vt:lpstr>Định nghĩa</vt:lpstr>
      <vt:lpstr>Phân loại tệp tin</vt:lpstr>
      <vt:lpstr>Quá trình khởi tạo file system</vt:lpstr>
      <vt:lpstr>PowerPoint Presentation</vt:lpstr>
      <vt:lpstr>Các hàm đọc ghi dữ liệu trong file</vt:lpstr>
      <vt:lpstr>Các file đặc biệt</vt:lpstr>
      <vt:lpstr>Bài tập</vt:lpstr>
      <vt:lpstr>PowerPoint Presentation</vt:lpstr>
      <vt:lpstr>File table của process</vt:lpstr>
      <vt:lpstr>File descriptor</vt:lpstr>
      <vt:lpstr>Block device</vt:lpstr>
      <vt:lpstr>Cached data của file</vt:lpstr>
      <vt:lpstr>Bài Tập</vt:lpstr>
      <vt:lpstr>Asynchronous File I/O</vt:lpstr>
      <vt:lpstr>Asynchronous File I/O</vt:lpstr>
      <vt:lpstr>Các hàm đọc ghi thuộc tính của file</vt:lpstr>
      <vt:lpstr>Các hàm thao tác với thư mục</vt:lpstr>
      <vt:lpstr>Bài Tập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Tuan Linh (FHO.FWA)</dc:creator>
  <cp:lastModifiedBy>Microsoft account</cp:lastModifiedBy>
  <cp:revision>139</cp:revision>
  <dcterms:created xsi:type="dcterms:W3CDTF">2015-08-31T01:44:46Z</dcterms:created>
  <dcterms:modified xsi:type="dcterms:W3CDTF">2025-11-02T12:00:07Z</dcterms:modified>
</cp:coreProperties>
</file>